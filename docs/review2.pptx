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Poppins" panose="00000500000000000000" pitchFamily="2" charset="0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ibiUFiU9NruQE/u+j9j+AbzG2r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1" d="100"/>
          <a:sy n="51" d="100"/>
        </p:scale>
        <p:origin x="1123" y="29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5" name="Google Shape;11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1" name="Google Shape;13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7" name="Google Shape;14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3" name="Google Shape;16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9" name="Google Shape;17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5" name="Google Shape;19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1" name="Google Shape;21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7" name="Google Shape;22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h7a5b6447edb48487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3" name="Google Shape;243;h7a5b6447edb48487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h7a5b6447edb48487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9" name="Google Shape;259;h7a5b6447edb48487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ddfedcbbf9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75" name="Google Shape;275;g3ddfedcbbf9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1" name="Google Shape;29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1" name="Google Shape;31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7" name="Google Shape;37;p1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38" name="Google Shape;38;p1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2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22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9" name="Google Shape;59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ransition spd="slow">
    <p:cover/>
  </p:transition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Google Shape;78;p1"/>
          <p:cNvGrpSpPr/>
          <p:nvPr/>
        </p:nvGrpSpPr>
        <p:grpSpPr>
          <a:xfrm rot="-9009653">
            <a:off x="-2694530" y="3642144"/>
            <a:ext cx="6215008" cy="6906496"/>
            <a:chOff x="0" y="0"/>
            <a:chExt cx="812800" cy="903233"/>
          </a:xfrm>
        </p:grpSpPr>
        <p:sp>
          <p:nvSpPr>
            <p:cNvPr id="79" name="Google Shape;79;p1"/>
            <p:cNvSpPr/>
            <p:nvPr/>
          </p:nvSpPr>
          <p:spPr>
            <a:xfrm>
              <a:off x="0" y="0"/>
              <a:ext cx="812800" cy="903233"/>
            </a:xfrm>
            <a:custGeom>
              <a:avLst/>
              <a:gdLst/>
              <a:ahLst/>
              <a:cxnLst/>
              <a:rect l="l" t="t" r="r" b="b"/>
              <a:pathLst>
                <a:path w="812800" h="903233" extrusionOk="0">
                  <a:moveTo>
                    <a:pt x="406400" y="903233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903233"/>
                  </a:lnTo>
                  <a:close/>
                </a:path>
              </a:pathLst>
            </a:custGeom>
            <a:solidFill>
              <a:srgbClr val="173764"/>
            </a:solidFill>
            <a:ln>
              <a:noFill/>
            </a:ln>
          </p:spPr>
        </p:sp>
        <p:sp>
          <p:nvSpPr>
            <p:cNvPr id="80" name="Google Shape;80;p1"/>
            <p:cNvSpPr txBox="1"/>
            <p:nvPr/>
          </p:nvSpPr>
          <p:spPr>
            <a:xfrm>
              <a:off x="127000" y="26417"/>
              <a:ext cx="558900" cy="45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1" name="Google Shape;81;p1"/>
          <p:cNvGrpSpPr/>
          <p:nvPr/>
        </p:nvGrpSpPr>
        <p:grpSpPr>
          <a:xfrm rot="6594421">
            <a:off x="-2788300" y="6947096"/>
            <a:ext cx="7633995" cy="6679746"/>
            <a:chOff x="0" y="0"/>
            <a:chExt cx="812800" cy="711200"/>
          </a:xfrm>
        </p:grpSpPr>
        <p:sp>
          <p:nvSpPr>
            <p:cNvPr id="82" name="Google Shape;82;p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 extrusionOk="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0CC0DF">
                <a:alpha val="58824"/>
              </a:srgbClr>
            </a:solidFill>
            <a:ln>
              <a:noFill/>
            </a:ln>
          </p:spPr>
        </p:sp>
        <p:sp>
          <p:nvSpPr>
            <p:cNvPr id="83" name="Google Shape;83;p1"/>
            <p:cNvSpPr txBox="1"/>
            <p:nvPr/>
          </p:nvSpPr>
          <p:spPr>
            <a:xfrm>
              <a:off x="127000" y="12700"/>
              <a:ext cx="558900" cy="3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4" name="Google Shape;84;p1"/>
          <p:cNvGrpSpPr/>
          <p:nvPr/>
        </p:nvGrpSpPr>
        <p:grpSpPr>
          <a:xfrm rot="6594421">
            <a:off x="-3377814" y="5307075"/>
            <a:ext cx="7633995" cy="6679746"/>
            <a:chOff x="0" y="0"/>
            <a:chExt cx="812800" cy="711200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 extrusionOk="0">
                  <a:moveTo>
                    <a:pt x="406400" y="711200"/>
                  </a:moveTo>
                  <a:lnTo>
                    <a:pt x="812800" y="0"/>
                  </a:lnTo>
                  <a:lnTo>
                    <a:pt x="0" y="0"/>
                  </a:lnTo>
                  <a:lnTo>
                    <a:pt x="406400" y="711200"/>
                  </a:lnTo>
                  <a:close/>
                </a:path>
              </a:pathLst>
            </a:custGeom>
            <a:solidFill>
              <a:srgbClr val="9DE1F6">
                <a:alpha val="58824"/>
              </a:srgbClr>
            </a:solidFill>
            <a:ln>
              <a:noFill/>
            </a:ln>
          </p:spPr>
        </p:sp>
        <p:sp>
          <p:nvSpPr>
            <p:cNvPr id="86" name="Google Shape;86;p1"/>
            <p:cNvSpPr txBox="1"/>
            <p:nvPr/>
          </p:nvSpPr>
          <p:spPr>
            <a:xfrm>
              <a:off x="127000" y="12700"/>
              <a:ext cx="558900" cy="36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 txBox="1"/>
          <p:nvPr/>
        </p:nvSpPr>
        <p:spPr>
          <a:xfrm>
            <a:off x="5867400" y="1843594"/>
            <a:ext cx="12100000" cy="14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576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0"/>
              <a:buFont typeface="Arial"/>
              <a:buNone/>
            </a:pPr>
            <a:r>
              <a:rPr lang="en-US" sz="4000" b="1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LecGap – Lecture Based Gap Prediction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5867400" y="3469030"/>
            <a:ext cx="12039600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54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1800" b="1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Team Members name: </a:t>
            </a:r>
            <a:r>
              <a:rPr lang="en-US" sz="1800" b="0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Soham Gawas, Bhargav Ghawali, Mahesh Gawali, Ayush Devadiga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5867400" y="4086635"/>
            <a:ext cx="12039600" cy="8633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54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Name of the Guide: </a:t>
            </a:r>
            <a:r>
              <a:rPr lang="en-US" sz="22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Prof </a:t>
            </a:r>
            <a:r>
              <a:rPr lang="en-US" sz="2200" b="0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Swati Gaikwad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5867400" y="4693136"/>
            <a:ext cx="12039600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54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1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Project Domain: </a:t>
            </a:r>
            <a:r>
              <a:rPr lang="en-US" sz="2200" b="0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AIML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5867400" y="5299637"/>
            <a:ext cx="12039600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54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1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Project Group Number: </a:t>
            </a:r>
            <a:r>
              <a:rPr lang="en-US" sz="2200" b="0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Group Number 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867400" y="5917242"/>
            <a:ext cx="12039600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54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1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Year: </a:t>
            </a:r>
            <a:r>
              <a:rPr lang="en-US" sz="2200" b="0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BE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5867400" y="6512639"/>
            <a:ext cx="12039600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254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b="1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Semester: </a:t>
            </a:r>
            <a:r>
              <a:rPr lang="en-US" sz="2200" b="0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VII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2113" y="743837"/>
            <a:ext cx="2411967" cy="2355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67400" y="908005"/>
            <a:ext cx="14106125" cy="4599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"/>
          <p:cNvSpPr txBox="1"/>
          <p:nvPr/>
        </p:nvSpPr>
        <p:spPr>
          <a:xfrm>
            <a:off x="4787825" y="766049"/>
            <a:ext cx="15512700" cy="1514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chemeClr val="lt1"/>
                </a:solidFill>
                <a:highlight>
                  <a:srgbClr val="6D9EEB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BHARAT COLLEGE OF ENGINEERING, BADLAPUR (W.)</a:t>
            </a:r>
            <a:endParaRPr sz="3600" b="1" i="0" u="none" strike="noStrike" cap="none">
              <a:solidFill>
                <a:schemeClr val="lt1"/>
              </a:solidFill>
              <a:highlight>
                <a:srgbClr val="6D9EEB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oogle Shape;101;p2"/>
          <p:cNvGrpSpPr/>
          <p:nvPr/>
        </p:nvGrpSpPr>
        <p:grpSpPr>
          <a:xfrm>
            <a:off x="8766875" y="4450253"/>
            <a:ext cx="11238105" cy="10840393"/>
            <a:chOff x="0" y="0"/>
            <a:chExt cx="14984139" cy="14453857"/>
          </a:xfrm>
        </p:grpSpPr>
        <p:grpSp>
          <p:nvGrpSpPr>
            <p:cNvPr id="102" name="Google Shape;102;p2"/>
            <p:cNvGrpSpPr/>
            <p:nvPr/>
          </p:nvGrpSpPr>
          <p:grpSpPr>
            <a:xfrm rot="9890360">
              <a:off x="1059955" y="923349"/>
              <a:ext cx="8286708" cy="9208693"/>
              <a:chOff x="0" y="0"/>
              <a:chExt cx="812800" cy="903233"/>
            </a:xfrm>
          </p:grpSpPr>
          <p:sp>
            <p:nvSpPr>
              <p:cNvPr id="103" name="Google Shape;103;p2"/>
              <p:cNvSpPr/>
              <p:nvPr/>
            </p:nvSpPr>
            <p:spPr>
              <a:xfrm>
                <a:off x="0" y="0"/>
                <a:ext cx="812800" cy="9032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903233" extrusionOk="0">
                    <a:moveTo>
                      <a:pt x="406400" y="903233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903233"/>
                    </a:lnTo>
                    <a:close/>
                  </a:path>
                </a:pathLst>
              </a:custGeom>
              <a:solidFill>
                <a:srgbClr val="173764">
                  <a:alpha val="24706"/>
                </a:srgbClr>
              </a:solidFill>
              <a:ln>
                <a:noFill/>
              </a:ln>
            </p:spPr>
          </p:sp>
          <p:sp>
            <p:nvSpPr>
              <p:cNvPr id="104" name="Google Shape;104;p2"/>
              <p:cNvSpPr txBox="1"/>
              <p:nvPr/>
            </p:nvSpPr>
            <p:spPr>
              <a:xfrm>
                <a:off x="127000" y="26417"/>
                <a:ext cx="558800" cy="4574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5" name="Google Shape;105;p2"/>
            <p:cNvGrpSpPr/>
            <p:nvPr/>
          </p:nvGrpSpPr>
          <p:grpSpPr>
            <a:xfrm rot="3894402">
              <a:off x="3703560" y="3503116"/>
              <a:ext cx="10178687" cy="8906351"/>
              <a:chOff x="0" y="0"/>
              <a:chExt cx="812800" cy="711200"/>
            </a:xfrm>
          </p:grpSpPr>
          <p:sp>
            <p:nvSpPr>
              <p:cNvPr id="106" name="Google Shape;106;p2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0CC0DF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107" name="Google Shape;107;p2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8" name="Google Shape;108;p2"/>
            <p:cNvGrpSpPr/>
            <p:nvPr/>
          </p:nvGrpSpPr>
          <p:grpSpPr>
            <a:xfrm rot="3894402">
              <a:off x="1601534" y="2512688"/>
              <a:ext cx="10178687" cy="8906351"/>
              <a:chOff x="0" y="0"/>
              <a:chExt cx="812800" cy="711200"/>
            </a:xfrm>
          </p:grpSpPr>
          <p:sp>
            <p:nvSpPr>
              <p:cNvPr id="109" name="Google Shape;109;p2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9DE1F6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110" name="Google Shape;110;p2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11" name="Google Shape;111;p2"/>
          <p:cNvSpPr txBox="1"/>
          <p:nvPr/>
        </p:nvSpPr>
        <p:spPr>
          <a:xfrm>
            <a:off x="7001818" y="452269"/>
            <a:ext cx="4504382" cy="1279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lang="en-US" sz="7500" b="1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Abstract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1157759" y="2500563"/>
            <a:ext cx="16192500" cy="612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Recorded lectures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are everywhere — comprehension gaps are not tracked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LecGap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transcribes lectures, extracts concepts, builds a course concept graph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Students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take a capped quiz; wrong answers trace prerequisites into ordered remediation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Faculty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get a confusion heatmap and taught-vs-learned order divergence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Streamlit + FastAPI baseline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built, with durable jobs and live progress</a:t>
            </a:r>
            <a:endParaRPr sz="3600" dirty="0"/>
          </a:p>
        </p:txBody>
      </p:sp>
    </p:spTree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" name="Google Shape;117;p3"/>
          <p:cNvGrpSpPr/>
          <p:nvPr/>
        </p:nvGrpSpPr>
        <p:grpSpPr>
          <a:xfrm>
            <a:off x="8766875" y="4450253"/>
            <a:ext cx="11238105" cy="10840393"/>
            <a:chOff x="0" y="0"/>
            <a:chExt cx="14984139" cy="14453857"/>
          </a:xfrm>
        </p:grpSpPr>
        <p:grpSp>
          <p:nvGrpSpPr>
            <p:cNvPr id="118" name="Google Shape;118;p3"/>
            <p:cNvGrpSpPr/>
            <p:nvPr/>
          </p:nvGrpSpPr>
          <p:grpSpPr>
            <a:xfrm rot="9890360">
              <a:off x="1059955" y="923349"/>
              <a:ext cx="8286708" cy="9208693"/>
              <a:chOff x="0" y="0"/>
              <a:chExt cx="812800" cy="903233"/>
            </a:xfrm>
          </p:grpSpPr>
          <p:sp>
            <p:nvSpPr>
              <p:cNvPr id="119" name="Google Shape;119;p3"/>
              <p:cNvSpPr/>
              <p:nvPr/>
            </p:nvSpPr>
            <p:spPr>
              <a:xfrm>
                <a:off x="0" y="0"/>
                <a:ext cx="812800" cy="9032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903233" extrusionOk="0">
                    <a:moveTo>
                      <a:pt x="406400" y="903233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903233"/>
                    </a:lnTo>
                    <a:close/>
                  </a:path>
                </a:pathLst>
              </a:custGeom>
              <a:solidFill>
                <a:srgbClr val="173764">
                  <a:alpha val="24706"/>
                </a:srgbClr>
              </a:solidFill>
              <a:ln>
                <a:noFill/>
              </a:ln>
            </p:spPr>
          </p:sp>
          <p:sp>
            <p:nvSpPr>
              <p:cNvPr id="120" name="Google Shape;120;p3"/>
              <p:cNvSpPr txBox="1"/>
              <p:nvPr/>
            </p:nvSpPr>
            <p:spPr>
              <a:xfrm>
                <a:off x="127000" y="26417"/>
                <a:ext cx="558800" cy="4574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3"/>
            <p:cNvGrpSpPr/>
            <p:nvPr/>
          </p:nvGrpSpPr>
          <p:grpSpPr>
            <a:xfrm rot="3894402">
              <a:off x="3703560" y="3503116"/>
              <a:ext cx="10178687" cy="8906351"/>
              <a:chOff x="0" y="0"/>
              <a:chExt cx="812800" cy="711200"/>
            </a:xfrm>
          </p:grpSpPr>
          <p:sp>
            <p:nvSpPr>
              <p:cNvPr id="122" name="Google Shape;122;p3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0CC0DF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123" name="Google Shape;123;p3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4" name="Google Shape;124;p3"/>
            <p:cNvGrpSpPr/>
            <p:nvPr/>
          </p:nvGrpSpPr>
          <p:grpSpPr>
            <a:xfrm rot="3894402">
              <a:off x="1601534" y="2512688"/>
              <a:ext cx="10178687" cy="8906351"/>
              <a:chOff x="0" y="0"/>
              <a:chExt cx="812800" cy="711200"/>
            </a:xfrm>
          </p:grpSpPr>
          <p:sp>
            <p:nvSpPr>
              <p:cNvPr id="125" name="Google Shape;125;p3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9DE1F6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126" name="Google Shape;126;p3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7" name="Google Shape;127;p3"/>
          <p:cNvSpPr txBox="1"/>
          <p:nvPr/>
        </p:nvSpPr>
        <p:spPr>
          <a:xfrm>
            <a:off x="4284488" y="628391"/>
            <a:ext cx="9714235" cy="1279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lang="en-US" sz="7500" b="1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Problem Statement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3"/>
          <p:cNvSpPr txBox="1"/>
          <p:nvPr/>
        </p:nvSpPr>
        <p:spPr>
          <a:xfrm>
            <a:off x="1157759" y="2500563"/>
            <a:ext cx="16192500" cy="612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Video ≠ understanding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students finish a lecture video without knowing what they missed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Wrong answers stay isolated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AI quiz tools never ask which earlier concept is the real gap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No learning order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students see their mistakes, not what to learn first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No class-level view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instructors cannot see where the whole class is confused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Taught order ≠ learned order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teaching sequence is never checked against prerequisites</a:t>
            </a:r>
            <a:endParaRPr sz="3600" dirty="0"/>
          </a:p>
        </p:txBody>
      </p:sp>
    </p:spTree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oogle Shape;133;p5"/>
          <p:cNvGrpSpPr/>
          <p:nvPr/>
        </p:nvGrpSpPr>
        <p:grpSpPr>
          <a:xfrm>
            <a:off x="8766875" y="4450253"/>
            <a:ext cx="11238105" cy="10840393"/>
            <a:chOff x="0" y="0"/>
            <a:chExt cx="14984139" cy="14453857"/>
          </a:xfrm>
        </p:grpSpPr>
        <p:grpSp>
          <p:nvGrpSpPr>
            <p:cNvPr id="134" name="Google Shape;134;p5"/>
            <p:cNvGrpSpPr/>
            <p:nvPr/>
          </p:nvGrpSpPr>
          <p:grpSpPr>
            <a:xfrm rot="9890360">
              <a:off x="1059955" y="923349"/>
              <a:ext cx="8286708" cy="9208693"/>
              <a:chOff x="0" y="0"/>
              <a:chExt cx="812800" cy="903233"/>
            </a:xfrm>
          </p:grpSpPr>
          <p:sp>
            <p:nvSpPr>
              <p:cNvPr id="135" name="Google Shape;135;p5"/>
              <p:cNvSpPr/>
              <p:nvPr/>
            </p:nvSpPr>
            <p:spPr>
              <a:xfrm>
                <a:off x="0" y="0"/>
                <a:ext cx="812800" cy="9032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903233" extrusionOk="0">
                    <a:moveTo>
                      <a:pt x="406400" y="903233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903233"/>
                    </a:lnTo>
                    <a:close/>
                  </a:path>
                </a:pathLst>
              </a:custGeom>
              <a:solidFill>
                <a:srgbClr val="173764">
                  <a:alpha val="24706"/>
                </a:srgbClr>
              </a:solidFill>
              <a:ln>
                <a:noFill/>
              </a:ln>
            </p:spPr>
          </p:sp>
          <p:sp>
            <p:nvSpPr>
              <p:cNvPr id="136" name="Google Shape;136;p5"/>
              <p:cNvSpPr txBox="1"/>
              <p:nvPr/>
            </p:nvSpPr>
            <p:spPr>
              <a:xfrm>
                <a:off x="127000" y="26417"/>
                <a:ext cx="558800" cy="4574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7" name="Google Shape;137;p5"/>
            <p:cNvGrpSpPr/>
            <p:nvPr/>
          </p:nvGrpSpPr>
          <p:grpSpPr>
            <a:xfrm rot="3894402">
              <a:off x="3703560" y="3503116"/>
              <a:ext cx="10178687" cy="8906351"/>
              <a:chOff x="0" y="0"/>
              <a:chExt cx="812800" cy="711200"/>
            </a:xfrm>
          </p:grpSpPr>
          <p:sp>
            <p:nvSpPr>
              <p:cNvPr id="138" name="Google Shape;138;p5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0CC0DF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139" name="Google Shape;139;p5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0" name="Google Shape;140;p5"/>
            <p:cNvGrpSpPr/>
            <p:nvPr/>
          </p:nvGrpSpPr>
          <p:grpSpPr>
            <a:xfrm rot="3894402">
              <a:off x="1601534" y="2512688"/>
              <a:ext cx="10178687" cy="8906351"/>
              <a:chOff x="0" y="0"/>
              <a:chExt cx="812800" cy="711200"/>
            </a:xfrm>
          </p:grpSpPr>
          <p:sp>
            <p:nvSpPr>
              <p:cNvPr id="141" name="Google Shape;141;p5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9DE1F6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142" name="Google Shape;142;p5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43" name="Google Shape;143;p5"/>
          <p:cNvSpPr txBox="1"/>
          <p:nvPr/>
        </p:nvSpPr>
        <p:spPr>
          <a:xfrm>
            <a:off x="3825296" y="452269"/>
            <a:ext cx="11033704" cy="1279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lang="en-US" sz="7500" b="1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Brief Literature Review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5"/>
          <p:cNvSpPr txBox="1"/>
          <p:nvPr/>
        </p:nvSpPr>
        <p:spPr>
          <a:xfrm>
            <a:off x="1157759" y="2500563"/>
            <a:ext cx="16192500" cy="612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40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AI study tools</a:t>
            </a:r>
            <a:r>
              <a:rPr lang="en-US" sz="40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(YouLearn, Knowt, NotebookLM) — generate quizzes but do not model prerequisites</a:t>
            </a:r>
            <a:endParaRPr sz="40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40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LectureBank (2019)</a:t>
            </a:r>
            <a:r>
              <a:rPr lang="en-US" sz="40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benchmark dataset for concept-prerequisite chain learning</a:t>
            </a:r>
            <a:endParaRPr sz="40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40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Cross-domain graph learning (2021)</a:t>
            </a:r>
            <a:r>
              <a:rPr lang="en-US" sz="40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transfers prerequisite knowledge across subjects</a:t>
            </a:r>
            <a:endParaRPr sz="40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40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Deep Knowledge Tracing</a:t>
            </a:r>
            <a:r>
              <a:rPr lang="en-US" sz="40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predicts student mastery from quiz history only</a:t>
            </a:r>
            <a:endParaRPr sz="4000" dirty="0"/>
          </a:p>
        </p:txBody>
      </p:sp>
    </p:spTree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9" name="Google Shape;149;p7"/>
          <p:cNvGrpSpPr/>
          <p:nvPr/>
        </p:nvGrpSpPr>
        <p:grpSpPr>
          <a:xfrm>
            <a:off x="8766875" y="4450253"/>
            <a:ext cx="11238105" cy="10840393"/>
            <a:chOff x="0" y="0"/>
            <a:chExt cx="14984139" cy="14453857"/>
          </a:xfrm>
        </p:grpSpPr>
        <p:grpSp>
          <p:nvGrpSpPr>
            <p:cNvPr id="150" name="Google Shape;150;p7"/>
            <p:cNvGrpSpPr/>
            <p:nvPr/>
          </p:nvGrpSpPr>
          <p:grpSpPr>
            <a:xfrm rot="9890360">
              <a:off x="1059955" y="923349"/>
              <a:ext cx="8286708" cy="9208693"/>
              <a:chOff x="0" y="0"/>
              <a:chExt cx="812800" cy="903233"/>
            </a:xfrm>
          </p:grpSpPr>
          <p:sp>
            <p:nvSpPr>
              <p:cNvPr id="151" name="Google Shape;151;p7"/>
              <p:cNvSpPr/>
              <p:nvPr/>
            </p:nvSpPr>
            <p:spPr>
              <a:xfrm>
                <a:off x="0" y="0"/>
                <a:ext cx="812800" cy="9032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903233" extrusionOk="0">
                    <a:moveTo>
                      <a:pt x="406400" y="903233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903233"/>
                    </a:lnTo>
                    <a:close/>
                  </a:path>
                </a:pathLst>
              </a:custGeom>
              <a:solidFill>
                <a:srgbClr val="173764">
                  <a:alpha val="24706"/>
                </a:srgbClr>
              </a:solidFill>
              <a:ln>
                <a:noFill/>
              </a:ln>
            </p:spPr>
          </p:sp>
          <p:sp>
            <p:nvSpPr>
              <p:cNvPr id="152" name="Google Shape;152;p7"/>
              <p:cNvSpPr txBox="1"/>
              <p:nvPr/>
            </p:nvSpPr>
            <p:spPr>
              <a:xfrm>
                <a:off x="127000" y="26417"/>
                <a:ext cx="558800" cy="4574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3" name="Google Shape;153;p7"/>
            <p:cNvGrpSpPr/>
            <p:nvPr/>
          </p:nvGrpSpPr>
          <p:grpSpPr>
            <a:xfrm rot="3894402">
              <a:off x="3703560" y="3503116"/>
              <a:ext cx="10178687" cy="8906351"/>
              <a:chOff x="0" y="0"/>
              <a:chExt cx="812800" cy="711200"/>
            </a:xfrm>
          </p:grpSpPr>
          <p:sp>
            <p:nvSpPr>
              <p:cNvPr id="154" name="Google Shape;154;p7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0CC0DF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155" name="Google Shape;155;p7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 rot="3894402">
              <a:off x="1601534" y="2512688"/>
              <a:ext cx="10178687" cy="8906351"/>
              <a:chOff x="0" y="0"/>
              <a:chExt cx="812800" cy="711200"/>
            </a:xfrm>
          </p:grpSpPr>
          <p:sp>
            <p:nvSpPr>
              <p:cNvPr id="157" name="Google Shape;157;p7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9DE1F6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158" name="Google Shape;158;p7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59" name="Google Shape;159;p7"/>
          <p:cNvSpPr txBox="1"/>
          <p:nvPr/>
        </p:nvSpPr>
        <p:spPr>
          <a:xfrm>
            <a:off x="3825296" y="452269"/>
            <a:ext cx="11033704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Research Gap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7"/>
          <p:cNvSpPr txBox="1"/>
          <p:nvPr/>
        </p:nvSpPr>
        <p:spPr>
          <a:xfrm>
            <a:off x="1157759" y="2500563"/>
            <a:ext cx="16192500" cy="612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No end-to-end system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combines extraction, prerequisite mapping, remediation and instructor analytics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Static prerequisite models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are trained once and never self-correct from student data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Quiz tools are concept-blind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they grade answers but cannot trace a failure to its root cause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Instructors get no feedback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on whether teaching order matches concept dependencies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No tool understands a classroom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LecGap does</a:t>
            </a:r>
            <a:endParaRPr sz="3600" dirty="0"/>
          </a:p>
        </p:txBody>
      </p:sp>
    </p:spTree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Google Shape;165;p12"/>
          <p:cNvGrpSpPr/>
          <p:nvPr/>
        </p:nvGrpSpPr>
        <p:grpSpPr>
          <a:xfrm>
            <a:off x="8766875" y="4450253"/>
            <a:ext cx="11238105" cy="10840393"/>
            <a:chOff x="0" y="0"/>
            <a:chExt cx="14984139" cy="14453857"/>
          </a:xfrm>
        </p:grpSpPr>
        <p:grpSp>
          <p:nvGrpSpPr>
            <p:cNvPr id="166" name="Google Shape;166;p12"/>
            <p:cNvGrpSpPr/>
            <p:nvPr/>
          </p:nvGrpSpPr>
          <p:grpSpPr>
            <a:xfrm rot="9890360">
              <a:off x="1059955" y="923349"/>
              <a:ext cx="8286708" cy="9208693"/>
              <a:chOff x="0" y="0"/>
              <a:chExt cx="812800" cy="903233"/>
            </a:xfrm>
          </p:grpSpPr>
          <p:sp>
            <p:nvSpPr>
              <p:cNvPr id="167" name="Google Shape;167;p12"/>
              <p:cNvSpPr/>
              <p:nvPr/>
            </p:nvSpPr>
            <p:spPr>
              <a:xfrm>
                <a:off x="0" y="0"/>
                <a:ext cx="812800" cy="9032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903233" extrusionOk="0">
                    <a:moveTo>
                      <a:pt x="406400" y="903233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903233"/>
                    </a:lnTo>
                    <a:close/>
                  </a:path>
                </a:pathLst>
              </a:custGeom>
              <a:solidFill>
                <a:srgbClr val="173764">
                  <a:alpha val="24706"/>
                </a:srgbClr>
              </a:solidFill>
              <a:ln>
                <a:noFill/>
              </a:ln>
            </p:spPr>
          </p:sp>
          <p:sp>
            <p:nvSpPr>
              <p:cNvPr id="168" name="Google Shape;168;p12"/>
              <p:cNvSpPr txBox="1"/>
              <p:nvPr/>
            </p:nvSpPr>
            <p:spPr>
              <a:xfrm>
                <a:off x="127000" y="26417"/>
                <a:ext cx="558800" cy="4574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9" name="Google Shape;169;p12"/>
            <p:cNvGrpSpPr/>
            <p:nvPr/>
          </p:nvGrpSpPr>
          <p:grpSpPr>
            <a:xfrm rot="3894402">
              <a:off x="3703560" y="3503116"/>
              <a:ext cx="10178687" cy="8906351"/>
              <a:chOff x="0" y="0"/>
              <a:chExt cx="812800" cy="711200"/>
            </a:xfrm>
          </p:grpSpPr>
          <p:sp>
            <p:nvSpPr>
              <p:cNvPr id="170" name="Google Shape;170;p12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0CC0DF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171" name="Google Shape;171;p12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72" name="Google Shape;172;p12"/>
            <p:cNvGrpSpPr/>
            <p:nvPr/>
          </p:nvGrpSpPr>
          <p:grpSpPr>
            <a:xfrm rot="3894402">
              <a:off x="1601534" y="2512688"/>
              <a:ext cx="10178687" cy="8906351"/>
              <a:chOff x="0" y="0"/>
              <a:chExt cx="812800" cy="711200"/>
            </a:xfrm>
          </p:grpSpPr>
          <p:sp>
            <p:nvSpPr>
              <p:cNvPr id="173" name="Google Shape;173;p12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9DE1F6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174" name="Google Shape;174;p12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75" name="Google Shape;175;p12"/>
          <p:cNvSpPr txBox="1"/>
          <p:nvPr/>
        </p:nvSpPr>
        <p:spPr>
          <a:xfrm>
            <a:off x="3825296" y="452269"/>
            <a:ext cx="11033704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Project Objectives</a:t>
            </a:r>
            <a:endParaRPr sz="7500" b="1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2"/>
          <p:cNvSpPr txBox="1"/>
          <p:nvPr/>
        </p:nvSpPr>
        <p:spPr>
          <a:xfrm>
            <a:off x="1157759" y="2500563"/>
            <a:ext cx="16192500" cy="612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Extract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concepts from lecture audio and visuals, with timestamps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Classify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prerequisite relationships and benchmark accuracy on LectureBank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Personalize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remediation in dependency order using short video clips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Refine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the prerequisite graph continuously from student performance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Give instructors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a confusion heatmap and teaching-order divergence insight</a:t>
            </a:r>
            <a:endParaRPr sz="3600" dirty="0"/>
          </a:p>
        </p:txBody>
      </p:sp>
    </p:spTree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Google Shape;181;p4"/>
          <p:cNvGrpSpPr/>
          <p:nvPr/>
        </p:nvGrpSpPr>
        <p:grpSpPr>
          <a:xfrm>
            <a:off x="8766875" y="4450253"/>
            <a:ext cx="11238105" cy="10840393"/>
            <a:chOff x="0" y="0"/>
            <a:chExt cx="14984139" cy="14453857"/>
          </a:xfrm>
        </p:grpSpPr>
        <p:grpSp>
          <p:nvGrpSpPr>
            <p:cNvPr id="182" name="Google Shape;182;p4"/>
            <p:cNvGrpSpPr/>
            <p:nvPr/>
          </p:nvGrpSpPr>
          <p:grpSpPr>
            <a:xfrm rot="9890360">
              <a:off x="1059955" y="923349"/>
              <a:ext cx="8286708" cy="9208693"/>
              <a:chOff x="0" y="0"/>
              <a:chExt cx="812800" cy="903233"/>
            </a:xfrm>
          </p:grpSpPr>
          <p:sp>
            <p:nvSpPr>
              <p:cNvPr id="183" name="Google Shape;183;p4"/>
              <p:cNvSpPr/>
              <p:nvPr/>
            </p:nvSpPr>
            <p:spPr>
              <a:xfrm>
                <a:off x="0" y="0"/>
                <a:ext cx="812800" cy="9032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903233" extrusionOk="0">
                    <a:moveTo>
                      <a:pt x="406400" y="903233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903233"/>
                    </a:lnTo>
                    <a:close/>
                  </a:path>
                </a:pathLst>
              </a:custGeom>
              <a:solidFill>
                <a:srgbClr val="173764">
                  <a:alpha val="24706"/>
                </a:srgbClr>
              </a:solidFill>
              <a:ln>
                <a:noFill/>
              </a:ln>
            </p:spPr>
          </p:sp>
          <p:sp>
            <p:nvSpPr>
              <p:cNvPr id="184" name="Google Shape;184;p4"/>
              <p:cNvSpPr txBox="1"/>
              <p:nvPr/>
            </p:nvSpPr>
            <p:spPr>
              <a:xfrm>
                <a:off x="127000" y="26417"/>
                <a:ext cx="558800" cy="4574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5" name="Google Shape;185;p4"/>
            <p:cNvGrpSpPr/>
            <p:nvPr/>
          </p:nvGrpSpPr>
          <p:grpSpPr>
            <a:xfrm rot="3894402">
              <a:off x="3703560" y="3503116"/>
              <a:ext cx="10178687" cy="8906351"/>
              <a:chOff x="0" y="0"/>
              <a:chExt cx="812800" cy="711200"/>
            </a:xfrm>
          </p:grpSpPr>
          <p:sp>
            <p:nvSpPr>
              <p:cNvPr id="186" name="Google Shape;186;p4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0CC0DF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187" name="Google Shape;187;p4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88" name="Google Shape;188;p4"/>
            <p:cNvGrpSpPr/>
            <p:nvPr/>
          </p:nvGrpSpPr>
          <p:grpSpPr>
            <a:xfrm rot="3894402">
              <a:off x="1601534" y="2512688"/>
              <a:ext cx="10178687" cy="8906351"/>
              <a:chOff x="0" y="0"/>
              <a:chExt cx="812800" cy="711200"/>
            </a:xfrm>
          </p:grpSpPr>
          <p:sp>
            <p:nvSpPr>
              <p:cNvPr id="189" name="Google Shape;189;p4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9DE1F6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190" name="Google Shape;190;p4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91" name="Google Shape;191;p4"/>
          <p:cNvSpPr txBox="1"/>
          <p:nvPr/>
        </p:nvSpPr>
        <p:spPr>
          <a:xfrm>
            <a:off x="2296160" y="452269"/>
            <a:ext cx="12740640" cy="1615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lang="en-US" sz="7500" b="1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Proposed Methodology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"/>
          <p:cNvSpPr txBox="1"/>
          <p:nvPr/>
        </p:nvSpPr>
        <p:spPr>
          <a:xfrm>
            <a:off x="1157759" y="2500563"/>
            <a:ext cx="5900000" cy="612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28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Transcribe</a:t>
            </a:r>
            <a:r>
              <a:rPr lang="en-US" sz="28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lecture audio (Whisper)</a:t>
            </a:r>
            <a:endParaRPr sz="28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28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Extract concepts</a:t>
            </a:r>
            <a:r>
              <a:rPr lang="en-US" sz="28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speech (LLM), slides (CLIP/OCR)</a:t>
            </a:r>
            <a:endParaRPr sz="28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28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Classify prerequisites</a:t>
            </a:r>
            <a:r>
              <a:rPr lang="en-US" sz="28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fine-tuned model, benchmarked</a:t>
            </a:r>
            <a:endParaRPr sz="28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28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Build</a:t>
            </a:r>
            <a:r>
              <a:rPr lang="en-US" sz="28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a per-course concept graph (DAG)</a:t>
            </a:r>
            <a:endParaRPr sz="28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28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Cut clips,</a:t>
            </a:r>
            <a:r>
              <a:rPr lang="en-US" sz="28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generate quizzes</a:t>
            </a:r>
            <a:endParaRPr sz="28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28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Remediate</a:t>
            </a:r>
            <a:r>
              <a:rPr lang="en-US" sz="28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in dependency order, refine over time</a:t>
            </a:r>
            <a:endParaRPr sz="2800" dirty="0"/>
          </a:p>
        </p:txBody>
      </p:sp>
      <p:pic>
        <p:nvPicPr>
          <p:cNvPr id="193" name="Picture 192" descr="com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0000" y="2750000"/>
            <a:ext cx="10700000" cy="5836364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7" name="Google Shape;197;p6"/>
          <p:cNvGrpSpPr/>
          <p:nvPr/>
        </p:nvGrpSpPr>
        <p:grpSpPr>
          <a:xfrm>
            <a:off x="8766875" y="4450253"/>
            <a:ext cx="11238105" cy="10840393"/>
            <a:chOff x="0" y="0"/>
            <a:chExt cx="14984139" cy="14453857"/>
          </a:xfrm>
        </p:grpSpPr>
        <p:grpSp>
          <p:nvGrpSpPr>
            <p:cNvPr id="198" name="Google Shape;198;p6"/>
            <p:cNvGrpSpPr/>
            <p:nvPr/>
          </p:nvGrpSpPr>
          <p:grpSpPr>
            <a:xfrm rot="9890360">
              <a:off x="1059955" y="923349"/>
              <a:ext cx="8286708" cy="9208693"/>
              <a:chOff x="0" y="0"/>
              <a:chExt cx="812800" cy="903233"/>
            </a:xfrm>
          </p:grpSpPr>
          <p:sp>
            <p:nvSpPr>
              <p:cNvPr id="199" name="Google Shape;199;p6"/>
              <p:cNvSpPr/>
              <p:nvPr/>
            </p:nvSpPr>
            <p:spPr>
              <a:xfrm>
                <a:off x="0" y="0"/>
                <a:ext cx="812800" cy="9032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903233" extrusionOk="0">
                    <a:moveTo>
                      <a:pt x="406400" y="903233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903233"/>
                    </a:lnTo>
                    <a:close/>
                  </a:path>
                </a:pathLst>
              </a:custGeom>
              <a:solidFill>
                <a:srgbClr val="173764">
                  <a:alpha val="24706"/>
                </a:srgbClr>
              </a:solidFill>
              <a:ln>
                <a:noFill/>
              </a:ln>
            </p:spPr>
          </p:sp>
          <p:sp>
            <p:nvSpPr>
              <p:cNvPr id="200" name="Google Shape;200;p6"/>
              <p:cNvSpPr txBox="1"/>
              <p:nvPr/>
            </p:nvSpPr>
            <p:spPr>
              <a:xfrm>
                <a:off x="127000" y="26417"/>
                <a:ext cx="558800" cy="4574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1" name="Google Shape;201;p6"/>
            <p:cNvGrpSpPr/>
            <p:nvPr/>
          </p:nvGrpSpPr>
          <p:grpSpPr>
            <a:xfrm rot="3894402">
              <a:off x="3703560" y="3503116"/>
              <a:ext cx="10178687" cy="8906351"/>
              <a:chOff x="0" y="0"/>
              <a:chExt cx="812800" cy="711200"/>
            </a:xfrm>
          </p:grpSpPr>
          <p:sp>
            <p:nvSpPr>
              <p:cNvPr id="202" name="Google Shape;202;p6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0CC0DF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203" name="Google Shape;203;p6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4" name="Google Shape;204;p6"/>
            <p:cNvGrpSpPr/>
            <p:nvPr/>
          </p:nvGrpSpPr>
          <p:grpSpPr>
            <a:xfrm rot="3894402">
              <a:off x="1601534" y="2512688"/>
              <a:ext cx="10178687" cy="8906351"/>
              <a:chOff x="0" y="0"/>
              <a:chExt cx="812800" cy="711200"/>
            </a:xfrm>
          </p:grpSpPr>
          <p:sp>
            <p:nvSpPr>
              <p:cNvPr id="205" name="Google Shape;205;p6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9DE1F6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206" name="Google Shape;206;p6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07" name="Google Shape;207;p6"/>
          <p:cNvSpPr txBox="1"/>
          <p:nvPr/>
        </p:nvSpPr>
        <p:spPr>
          <a:xfrm>
            <a:off x="1324108" y="575829"/>
            <a:ext cx="15074132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System Architecture / Flowchart</a:t>
            </a:r>
            <a:endParaRPr sz="7200" b="1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6"/>
          <p:cNvSpPr txBox="1"/>
          <p:nvPr/>
        </p:nvSpPr>
        <p:spPr>
          <a:xfrm>
            <a:off x="1157759" y="2500563"/>
            <a:ext cx="5900000" cy="612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28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Streamlit frontend</a:t>
            </a:r>
            <a:r>
              <a:rPr lang="en-US" sz="28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student and faculty dashboards</a:t>
            </a:r>
            <a:endParaRPr sz="28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28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FastAPI backend</a:t>
            </a:r>
            <a:r>
              <a:rPr lang="en-US" sz="28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REST API, durable background jobs</a:t>
            </a:r>
            <a:endParaRPr sz="28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28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Live progress</a:t>
            </a:r>
            <a:r>
              <a:rPr lang="en-US" sz="28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server-sent events</a:t>
            </a:r>
            <a:endParaRPr sz="28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28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Two-tier state</a:t>
            </a:r>
            <a:r>
              <a:rPr lang="en-US" sz="28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TTL cache + session state</a:t>
            </a:r>
            <a:endParaRPr sz="28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28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Graph feedback</a:t>
            </a:r>
            <a:r>
              <a:rPr lang="en-US" sz="28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quiz results refine the DAG</a:t>
            </a:r>
            <a:endParaRPr sz="2800" dirty="0"/>
          </a:p>
        </p:txBody>
      </p:sp>
      <p:pic>
        <p:nvPicPr>
          <p:cNvPr id="209" name="Picture 208" descr="flwochart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0000" y="2750000"/>
            <a:ext cx="10700000" cy="5836364"/>
          </a:xfrm>
          <a:prstGeom prst="rect">
            <a:avLst/>
          </a:prstGeom>
        </p:spPr>
      </p:pic>
    </p:spTree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3" name="Google Shape;213;p8"/>
          <p:cNvGrpSpPr/>
          <p:nvPr/>
        </p:nvGrpSpPr>
        <p:grpSpPr>
          <a:xfrm>
            <a:off x="8766875" y="4450253"/>
            <a:ext cx="11238105" cy="10840393"/>
            <a:chOff x="0" y="0"/>
            <a:chExt cx="14984139" cy="14453857"/>
          </a:xfrm>
        </p:grpSpPr>
        <p:grpSp>
          <p:nvGrpSpPr>
            <p:cNvPr id="214" name="Google Shape;214;p8"/>
            <p:cNvGrpSpPr/>
            <p:nvPr/>
          </p:nvGrpSpPr>
          <p:grpSpPr>
            <a:xfrm rot="9890360">
              <a:off x="1059955" y="923349"/>
              <a:ext cx="8286708" cy="9208693"/>
              <a:chOff x="0" y="0"/>
              <a:chExt cx="812800" cy="903233"/>
            </a:xfrm>
          </p:grpSpPr>
          <p:sp>
            <p:nvSpPr>
              <p:cNvPr id="215" name="Google Shape;215;p8"/>
              <p:cNvSpPr/>
              <p:nvPr/>
            </p:nvSpPr>
            <p:spPr>
              <a:xfrm>
                <a:off x="0" y="0"/>
                <a:ext cx="812800" cy="9032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903233" extrusionOk="0">
                    <a:moveTo>
                      <a:pt x="406400" y="903233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903233"/>
                    </a:lnTo>
                    <a:close/>
                  </a:path>
                </a:pathLst>
              </a:custGeom>
              <a:solidFill>
                <a:srgbClr val="173764">
                  <a:alpha val="24706"/>
                </a:srgbClr>
              </a:solidFill>
              <a:ln>
                <a:noFill/>
              </a:ln>
            </p:spPr>
          </p:sp>
          <p:sp>
            <p:nvSpPr>
              <p:cNvPr id="216" name="Google Shape;216;p8"/>
              <p:cNvSpPr txBox="1"/>
              <p:nvPr/>
            </p:nvSpPr>
            <p:spPr>
              <a:xfrm>
                <a:off x="127000" y="26417"/>
                <a:ext cx="558800" cy="4574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17" name="Google Shape;217;p8"/>
            <p:cNvGrpSpPr/>
            <p:nvPr/>
          </p:nvGrpSpPr>
          <p:grpSpPr>
            <a:xfrm rot="3894402">
              <a:off x="3703560" y="3503116"/>
              <a:ext cx="10178687" cy="8906351"/>
              <a:chOff x="0" y="0"/>
              <a:chExt cx="812800" cy="711200"/>
            </a:xfrm>
          </p:grpSpPr>
          <p:sp>
            <p:nvSpPr>
              <p:cNvPr id="218" name="Google Shape;218;p8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0CC0DF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219" name="Google Shape;219;p8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0" name="Google Shape;220;p8"/>
            <p:cNvGrpSpPr/>
            <p:nvPr/>
          </p:nvGrpSpPr>
          <p:grpSpPr>
            <a:xfrm rot="3894402">
              <a:off x="1601534" y="2512688"/>
              <a:ext cx="10178687" cy="8906351"/>
              <a:chOff x="0" y="0"/>
              <a:chExt cx="812800" cy="711200"/>
            </a:xfrm>
          </p:grpSpPr>
          <p:sp>
            <p:nvSpPr>
              <p:cNvPr id="221" name="Google Shape;221;p8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9DE1F6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222" name="Google Shape;222;p8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23" name="Google Shape;223;p8"/>
          <p:cNvSpPr txBox="1"/>
          <p:nvPr/>
        </p:nvSpPr>
        <p:spPr>
          <a:xfrm>
            <a:off x="3466128" y="717282"/>
            <a:ext cx="9596120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Dataset Description</a:t>
            </a:r>
            <a:endParaRPr sz="1400" b="1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8"/>
          <p:cNvSpPr txBox="1"/>
          <p:nvPr/>
        </p:nvSpPr>
        <p:spPr>
          <a:xfrm>
            <a:off x="1157759" y="2500563"/>
            <a:ext cx="16192500" cy="612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40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Lecture recordings</a:t>
            </a:r>
            <a:r>
              <a:rPr lang="en-US" sz="40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NPTEL and YouTube lectures on ML, DL and NLP, 21 to 86 minutes long</a:t>
            </a:r>
            <a:endParaRPr sz="40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40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LectureBank</a:t>
            </a:r>
            <a:r>
              <a:rPr lang="en-US" sz="40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208 labeled concepts, 921 positive prerequisite edges, 42,749 concept pairs</a:t>
            </a:r>
            <a:endParaRPr sz="40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40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Synthetic students</a:t>
            </a:r>
            <a:r>
              <a:rPr lang="en-US" sz="40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LLM personas that attempt quizzes, used for controlled refinement tests</a:t>
            </a:r>
            <a:endParaRPr sz="40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40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Pipeline data</a:t>
            </a:r>
            <a:r>
              <a:rPr lang="en-US" sz="40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timestamped transcripts, extracted concepts, graph edges, clips, quiz responses</a:t>
            </a:r>
            <a:endParaRPr sz="4000" dirty="0"/>
          </a:p>
        </p:txBody>
      </p:sp>
    </p:spTree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9" name="Google Shape;229;p9"/>
          <p:cNvGrpSpPr/>
          <p:nvPr/>
        </p:nvGrpSpPr>
        <p:grpSpPr>
          <a:xfrm rot="-5830662">
            <a:off x="12075128" y="1560288"/>
            <a:ext cx="11238105" cy="10840393"/>
            <a:chOff x="0" y="0"/>
            <a:chExt cx="14984139" cy="14453857"/>
          </a:xfrm>
        </p:grpSpPr>
        <p:grpSp>
          <p:nvGrpSpPr>
            <p:cNvPr id="230" name="Google Shape;230;p9"/>
            <p:cNvGrpSpPr/>
            <p:nvPr/>
          </p:nvGrpSpPr>
          <p:grpSpPr>
            <a:xfrm rot="9890360">
              <a:off x="1059955" y="923349"/>
              <a:ext cx="8286708" cy="9208693"/>
              <a:chOff x="0" y="0"/>
              <a:chExt cx="812800" cy="903233"/>
            </a:xfrm>
          </p:grpSpPr>
          <p:sp>
            <p:nvSpPr>
              <p:cNvPr id="231" name="Google Shape;231;p9"/>
              <p:cNvSpPr/>
              <p:nvPr/>
            </p:nvSpPr>
            <p:spPr>
              <a:xfrm>
                <a:off x="0" y="0"/>
                <a:ext cx="812800" cy="9032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903233" extrusionOk="0">
                    <a:moveTo>
                      <a:pt x="406400" y="903233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903233"/>
                    </a:lnTo>
                    <a:close/>
                  </a:path>
                </a:pathLst>
              </a:custGeom>
              <a:solidFill>
                <a:srgbClr val="173764">
                  <a:alpha val="24706"/>
                </a:srgbClr>
              </a:solidFill>
              <a:ln>
                <a:noFill/>
              </a:ln>
            </p:spPr>
          </p:sp>
          <p:sp>
            <p:nvSpPr>
              <p:cNvPr id="232" name="Google Shape;232;p9"/>
              <p:cNvSpPr txBox="1"/>
              <p:nvPr/>
            </p:nvSpPr>
            <p:spPr>
              <a:xfrm>
                <a:off x="127000" y="26417"/>
                <a:ext cx="558800" cy="45745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3" name="Google Shape;233;p9"/>
            <p:cNvGrpSpPr/>
            <p:nvPr/>
          </p:nvGrpSpPr>
          <p:grpSpPr>
            <a:xfrm rot="3894402">
              <a:off x="3703560" y="3503116"/>
              <a:ext cx="10178687" cy="8906351"/>
              <a:chOff x="0" y="0"/>
              <a:chExt cx="812800" cy="711200"/>
            </a:xfrm>
          </p:grpSpPr>
          <p:sp>
            <p:nvSpPr>
              <p:cNvPr id="234" name="Google Shape;234;p9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0CC0DF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235" name="Google Shape;235;p9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6" name="Google Shape;236;p9"/>
            <p:cNvGrpSpPr/>
            <p:nvPr/>
          </p:nvGrpSpPr>
          <p:grpSpPr>
            <a:xfrm rot="3894402">
              <a:off x="1601534" y="2512688"/>
              <a:ext cx="10178687" cy="8906351"/>
              <a:chOff x="0" y="0"/>
              <a:chExt cx="812800" cy="711200"/>
            </a:xfrm>
          </p:grpSpPr>
          <p:sp>
            <p:nvSpPr>
              <p:cNvPr id="237" name="Google Shape;237;p9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9DE1F6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238" name="Google Shape;238;p9"/>
              <p:cNvSpPr txBox="1"/>
              <p:nvPr/>
            </p:nvSpPr>
            <p:spPr>
              <a:xfrm>
                <a:off x="127000" y="12700"/>
                <a:ext cx="558800" cy="368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39" name="Google Shape;239;p9"/>
          <p:cNvSpPr txBox="1"/>
          <p:nvPr/>
        </p:nvSpPr>
        <p:spPr>
          <a:xfrm>
            <a:off x="0" y="509150"/>
            <a:ext cx="16743680" cy="1723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AI/ML Techniques and Algorithms</a:t>
            </a:r>
            <a:endParaRPr sz="1400" b="1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9"/>
          <p:cNvSpPr txBox="1"/>
          <p:nvPr/>
        </p:nvSpPr>
        <p:spPr>
          <a:xfrm>
            <a:off x="1157759" y="2500563"/>
            <a:ext cx="16192500" cy="612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Whisper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timestamped speech-to-text (hosted on Groq)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LLM + CLIP + OCR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concept extraction from speech and slides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MiniLM + classifier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frozen-encoder prerequisite model, F1 0.569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Cross-encoder fine-tuning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tried on Kaggle GPU, did not beat the baseline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NetworkX DAG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deduplication, cycle breaking, topological order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Weak supervision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co-failure rule refines edges from student data</a:t>
            </a:r>
            <a:endParaRPr sz="3600" dirty="0"/>
          </a:p>
        </p:txBody>
      </p:sp>
    </p:spTree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Google Shape;245;h7a5b6447edb48487_0_3"/>
          <p:cNvGrpSpPr/>
          <p:nvPr/>
        </p:nvGrpSpPr>
        <p:grpSpPr>
          <a:xfrm rot="-5830628">
            <a:off x="12075261" y="1560686"/>
            <a:ext cx="11237700" cy="10840054"/>
            <a:chOff x="51" y="22"/>
            <a:chExt cx="14984072" cy="14453862"/>
          </a:xfrm>
        </p:grpSpPr>
        <p:grpSp>
          <p:nvGrpSpPr>
            <p:cNvPr id="246" name="Google Shape;246;h7a5b6447edb48487_0_3"/>
            <p:cNvGrpSpPr/>
            <p:nvPr/>
          </p:nvGrpSpPr>
          <p:grpSpPr>
            <a:xfrm rot="9890368">
              <a:off x="1059995" y="923361"/>
              <a:ext cx="8286679" cy="9208664"/>
              <a:chOff x="0" y="0"/>
              <a:chExt cx="812800" cy="903233"/>
            </a:xfrm>
          </p:grpSpPr>
          <p:sp>
            <p:nvSpPr>
              <p:cNvPr id="247" name="Google Shape;247;h7a5b6447edb48487_0_3"/>
              <p:cNvSpPr/>
              <p:nvPr/>
            </p:nvSpPr>
            <p:spPr>
              <a:xfrm>
                <a:off x="0" y="0"/>
                <a:ext cx="812800" cy="9032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903233" extrusionOk="0">
                    <a:moveTo>
                      <a:pt x="406400" y="903233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903233"/>
                    </a:lnTo>
                    <a:close/>
                  </a:path>
                </a:pathLst>
              </a:custGeom>
              <a:solidFill>
                <a:srgbClr val="173764">
                  <a:alpha val="24710"/>
                </a:srgbClr>
              </a:solidFill>
              <a:ln>
                <a:noFill/>
              </a:ln>
            </p:spPr>
          </p:sp>
          <p:sp>
            <p:nvSpPr>
              <p:cNvPr id="248" name="Google Shape;248;h7a5b6447edb48487_0_3"/>
              <p:cNvSpPr txBox="1"/>
              <p:nvPr/>
            </p:nvSpPr>
            <p:spPr>
              <a:xfrm>
                <a:off x="127000" y="26417"/>
                <a:ext cx="558900" cy="457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49" name="Google Shape;249;h7a5b6447edb48487_0_3"/>
            <p:cNvGrpSpPr/>
            <p:nvPr/>
          </p:nvGrpSpPr>
          <p:grpSpPr>
            <a:xfrm rot="3894413">
              <a:off x="3703520" y="3503116"/>
              <a:ext cx="10178716" cy="8906377"/>
              <a:chOff x="0" y="0"/>
              <a:chExt cx="812800" cy="711200"/>
            </a:xfrm>
          </p:grpSpPr>
          <p:sp>
            <p:nvSpPr>
              <p:cNvPr id="250" name="Google Shape;250;h7a5b6447edb48487_0_3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0CC0DF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251" name="Google Shape;251;h7a5b6447edb48487_0_3"/>
              <p:cNvSpPr txBox="1"/>
              <p:nvPr/>
            </p:nvSpPr>
            <p:spPr>
              <a:xfrm>
                <a:off x="127000" y="12700"/>
                <a:ext cx="558900" cy="36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2" name="Google Shape;252;h7a5b6447edb48487_0_3"/>
            <p:cNvGrpSpPr/>
            <p:nvPr/>
          </p:nvGrpSpPr>
          <p:grpSpPr>
            <a:xfrm rot="3894413">
              <a:off x="1601494" y="2512688"/>
              <a:ext cx="10178716" cy="8906377"/>
              <a:chOff x="0" y="0"/>
              <a:chExt cx="812800" cy="711200"/>
            </a:xfrm>
          </p:grpSpPr>
          <p:sp>
            <p:nvSpPr>
              <p:cNvPr id="253" name="Google Shape;253;h7a5b6447edb48487_0_3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9DE1F6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254" name="Google Shape;254;h7a5b6447edb48487_0_3"/>
              <p:cNvSpPr txBox="1"/>
              <p:nvPr/>
            </p:nvSpPr>
            <p:spPr>
              <a:xfrm>
                <a:off x="127000" y="12700"/>
                <a:ext cx="558900" cy="36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55" name="Google Shape;255;h7a5b6447edb48487_0_3"/>
          <p:cNvSpPr txBox="1"/>
          <p:nvPr/>
        </p:nvSpPr>
        <p:spPr>
          <a:xfrm>
            <a:off x="392400" y="509150"/>
            <a:ext cx="17503200" cy="29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>
                <a:solidFill>
                  <a:schemeClr val="dk2"/>
                </a:solidFill>
              </a:rPr>
              <a:t>Implementation and Experimental Setup</a:t>
            </a:r>
            <a:endParaRPr sz="1400" b="1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h7a5b6447edb48487_0_3"/>
          <p:cNvSpPr txBox="1"/>
          <p:nvPr/>
        </p:nvSpPr>
        <p:spPr>
          <a:xfrm>
            <a:off x="1157759" y="2500563"/>
            <a:ext cx="16192500" cy="612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Stack: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Python, Streamlit, FastAPI, Whisper, NetworkX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Run: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uvicorn backend + student and faculty Streamlit apps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Upload: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row created, media streamed in 1 MiB chunks, job queued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Config: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env vars for API URL, API key, quiz cap (15)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Tests: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pytest — client, state, theme (WCAG AA), render, API contract</a:t>
            </a:r>
            <a:endParaRPr sz="3600" dirty="0"/>
          </a:p>
        </p:txBody>
      </p:sp>
    </p:spTree>
  </p:cSld>
  <p:clrMapOvr>
    <a:masterClrMapping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h7a5b6447edb48487_0_19"/>
          <p:cNvGrpSpPr/>
          <p:nvPr/>
        </p:nvGrpSpPr>
        <p:grpSpPr>
          <a:xfrm rot="-5830628">
            <a:off x="12075261" y="1560686"/>
            <a:ext cx="11237700" cy="10840054"/>
            <a:chOff x="51" y="22"/>
            <a:chExt cx="14984072" cy="14453862"/>
          </a:xfrm>
        </p:grpSpPr>
        <p:grpSp>
          <p:nvGrpSpPr>
            <p:cNvPr id="262" name="Google Shape;262;h7a5b6447edb48487_0_19"/>
            <p:cNvGrpSpPr/>
            <p:nvPr/>
          </p:nvGrpSpPr>
          <p:grpSpPr>
            <a:xfrm rot="9890368">
              <a:off x="1059995" y="923361"/>
              <a:ext cx="8286679" cy="9208664"/>
              <a:chOff x="0" y="0"/>
              <a:chExt cx="812800" cy="903233"/>
            </a:xfrm>
          </p:grpSpPr>
          <p:sp>
            <p:nvSpPr>
              <p:cNvPr id="263" name="Google Shape;263;h7a5b6447edb48487_0_19"/>
              <p:cNvSpPr/>
              <p:nvPr/>
            </p:nvSpPr>
            <p:spPr>
              <a:xfrm>
                <a:off x="0" y="0"/>
                <a:ext cx="812800" cy="9032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903233" extrusionOk="0">
                    <a:moveTo>
                      <a:pt x="406400" y="903233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903233"/>
                    </a:lnTo>
                    <a:close/>
                  </a:path>
                </a:pathLst>
              </a:custGeom>
              <a:solidFill>
                <a:srgbClr val="173764">
                  <a:alpha val="24710"/>
                </a:srgbClr>
              </a:solidFill>
              <a:ln>
                <a:noFill/>
              </a:ln>
            </p:spPr>
          </p:sp>
          <p:sp>
            <p:nvSpPr>
              <p:cNvPr id="264" name="Google Shape;264;h7a5b6447edb48487_0_19"/>
              <p:cNvSpPr txBox="1"/>
              <p:nvPr/>
            </p:nvSpPr>
            <p:spPr>
              <a:xfrm>
                <a:off x="127000" y="26417"/>
                <a:ext cx="558900" cy="457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65" name="Google Shape;265;h7a5b6447edb48487_0_19"/>
            <p:cNvGrpSpPr/>
            <p:nvPr/>
          </p:nvGrpSpPr>
          <p:grpSpPr>
            <a:xfrm rot="3894413">
              <a:off x="3703520" y="3503116"/>
              <a:ext cx="10178716" cy="8906377"/>
              <a:chOff x="0" y="0"/>
              <a:chExt cx="812800" cy="711200"/>
            </a:xfrm>
          </p:grpSpPr>
          <p:sp>
            <p:nvSpPr>
              <p:cNvPr id="266" name="Google Shape;266;h7a5b6447edb48487_0_19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0CC0DF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267" name="Google Shape;267;h7a5b6447edb48487_0_19"/>
              <p:cNvSpPr txBox="1"/>
              <p:nvPr/>
            </p:nvSpPr>
            <p:spPr>
              <a:xfrm>
                <a:off x="127000" y="12700"/>
                <a:ext cx="558900" cy="36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68" name="Google Shape;268;h7a5b6447edb48487_0_19"/>
            <p:cNvGrpSpPr/>
            <p:nvPr/>
          </p:nvGrpSpPr>
          <p:grpSpPr>
            <a:xfrm rot="3894413">
              <a:off x="1601494" y="2512688"/>
              <a:ext cx="10178716" cy="8906377"/>
              <a:chOff x="0" y="0"/>
              <a:chExt cx="812800" cy="711200"/>
            </a:xfrm>
          </p:grpSpPr>
          <p:sp>
            <p:nvSpPr>
              <p:cNvPr id="269" name="Google Shape;269;h7a5b6447edb48487_0_19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9DE1F6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270" name="Google Shape;270;h7a5b6447edb48487_0_19"/>
              <p:cNvSpPr txBox="1"/>
              <p:nvPr/>
            </p:nvSpPr>
            <p:spPr>
              <a:xfrm>
                <a:off x="127000" y="12700"/>
                <a:ext cx="558900" cy="36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71" name="Google Shape;271;h7a5b6447edb48487_0_19"/>
          <p:cNvSpPr txBox="1"/>
          <p:nvPr/>
        </p:nvSpPr>
        <p:spPr>
          <a:xfrm>
            <a:off x="-759575" y="509150"/>
            <a:ext cx="17503200" cy="12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 b="1">
                <a:solidFill>
                  <a:schemeClr val="dk2"/>
                </a:solidFill>
              </a:rPr>
              <a:t>Expected / Preliminary Results</a:t>
            </a:r>
            <a:endParaRPr sz="1400" b="1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h7a5b6447edb48487_0_19"/>
          <p:cNvSpPr txBox="1"/>
          <p:nvPr/>
        </p:nvSpPr>
        <p:spPr>
          <a:xfrm>
            <a:off x="1157759" y="2500563"/>
            <a:ext cx="16192500" cy="612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Working baseline: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upload → quiz → remediation plan with clips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Student view: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quiz, feedback, dependency-ordered remediation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Faculty view: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confusion heatmap, order divergence, DAG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Gaps found: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untyped snapshot/stats, blocking quiz generation, silent 401s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Expected: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benchmarked prerequisite accuracy and refinement gains</a:t>
            </a:r>
            <a:endParaRPr sz="3600" dirty="0"/>
          </a:p>
        </p:txBody>
      </p:sp>
    </p:spTree>
  </p:cSld>
  <p:clrMapOvr>
    <a:masterClrMapping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7" name="Google Shape;277;g3ddfedcbbf9_0_14"/>
          <p:cNvGrpSpPr/>
          <p:nvPr/>
        </p:nvGrpSpPr>
        <p:grpSpPr>
          <a:xfrm rot="-5830628">
            <a:off x="12075261" y="1560686"/>
            <a:ext cx="11237700" cy="10840053"/>
            <a:chOff x="51" y="22"/>
            <a:chExt cx="14984071" cy="14453861"/>
          </a:xfrm>
        </p:grpSpPr>
        <p:grpSp>
          <p:nvGrpSpPr>
            <p:cNvPr id="278" name="Google Shape;278;g3ddfedcbbf9_0_14"/>
            <p:cNvGrpSpPr/>
            <p:nvPr/>
          </p:nvGrpSpPr>
          <p:grpSpPr>
            <a:xfrm rot="9890368">
              <a:off x="1059995" y="923361"/>
              <a:ext cx="8286679" cy="9208664"/>
              <a:chOff x="0" y="0"/>
              <a:chExt cx="812800" cy="903233"/>
            </a:xfrm>
          </p:grpSpPr>
          <p:sp>
            <p:nvSpPr>
              <p:cNvPr id="279" name="Google Shape;279;g3ddfedcbbf9_0_14"/>
              <p:cNvSpPr/>
              <p:nvPr/>
            </p:nvSpPr>
            <p:spPr>
              <a:xfrm>
                <a:off x="0" y="0"/>
                <a:ext cx="812800" cy="903233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903233" extrusionOk="0">
                    <a:moveTo>
                      <a:pt x="406400" y="903233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903233"/>
                    </a:lnTo>
                    <a:close/>
                  </a:path>
                </a:pathLst>
              </a:custGeom>
              <a:solidFill>
                <a:srgbClr val="173764">
                  <a:alpha val="24706"/>
                </a:srgbClr>
              </a:solidFill>
              <a:ln>
                <a:noFill/>
              </a:ln>
            </p:spPr>
          </p:sp>
          <p:sp>
            <p:nvSpPr>
              <p:cNvPr id="280" name="Google Shape;280;g3ddfedcbbf9_0_14"/>
              <p:cNvSpPr txBox="1"/>
              <p:nvPr/>
            </p:nvSpPr>
            <p:spPr>
              <a:xfrm>
                <a:off x="127000" y="26417"/>
                <a:ext cx="558900" cy="457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g3ddfedcbbf9_0_14"/>
            <p:cNvGrpSpPr/>
            <p:nvPr/>
          </p:nvGrpSpPr>
          <p:grpSpPr>
            <a:xfrm rot="3894413">
              <a:off x="3703520" y="3503116"/>
              <a:ext cx="10178716" cy="8906377"/>
              <a:chOff x="0" y="0"/>
              <a:chExt cx="812800" cy="711200"/>
            </a:xfrm>
          </p:grpSpPr>
          <p:sp>
            <p:nvSpPr>
              <p:cNvPr id="282" name="Google Shape;282;g3ddfedcbbf9_0_14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0CC0DF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283" name="Google Shape;283;g3ddfedcbbf9_0_14"/>
              <p:cNvSpPr txBox="1"/>
              <p:nvPr/>
            </p:nvSpPr>
            <p:spPr>
              <a:xfrm>
                <a:off x="127000" y="12700"/>
                <a:ext cx="558900" cy="36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4" name="Google Shape;284;g3ddfedcbbf9_0_14"/>
            <p:cNvGrpSpPr/>
            <p:nvPr/>
          </p:nvGrpSpPr>
          <p:grpSpPr>
            <a:xfrm rot="3894413">
              <a:off x="1601494" y="2512688"/>
              <a:ext cx="10178716" cy="8906377"/>
              <a:chOff x="0" y="0"/>
              <a:chExt cx="812800" cy="711200"/>
            </a:xfrm>
          </p:grpSpPr>
          <p:sp>
            <p:nvSpPr>
              <p:cNvPr id="285" name="Google Shape;285;g3ddfedcbbf9_0_14"/>
              <p:cNvSpPr/>
              <p:nvPr/>
            </p:nvSpPr>
            <p:spPr>
              <a:xfrm>
                <a:off x="0" y="0"/>
                <a:ext cx="812800" cy="7112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711200" extrusionOk="0">
                    <a:moveTo>
                      <a:pt x="406400" y="711200"/>
                    </a:moveTo>
                    <a:lnTo>
                      <a:pt x="812800" y="0"/>
                    </a:lnTo>
                    <a:lnTo>
                      <a:pt x="0" y="0"/>
                    </a:lnTo>
                    <a:lnTo>
                      <a:pt x="406400" y="711200"/>
                    </a:lnTo>
                    <a:close/>
                  </a:path>
                </a:pathLst>
              </a:custGeom>
              <a:solidFill>
                <a:srgbClr val="9DE1F6">
                  <a:alpha val="14510"/>
                </a:srgbClr>
              </a:solidFill>
              <a:ln>
                <a:noFill/>
              </a:ln>
            </p:spPr>
          </p:sp>
          <p:sp>
            <p:nvSpPr>
              <p:cNvPr id="286" name="Google Shape;286;g3ddfedcbbf9_0_14"/>
              <p:cNvSpPr txBox="1"/>
              <p:nvPr/>
            </p:nvSpPr>
            <p:spPr>
              <a:xfrm>
                <a:off x="127000" y="12700"/>
                <a:ext cx="558900" cy="36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47722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87" name="Google Shape;287;g3ddfedcbbf9_0_14"/>
          <p:cNvSpPr txBox="1"/>
          <p:nvPr/>
        </p:nvSpPr>
        <p:spPr>
          <a:xfrm>
            <a:off x="392400" y="509150"/>
            <a:ext cx="17503200" cy="26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Project Timeline and Semester VIII Plan</a:t>
            </a:r>
            <a:endParaRPr sz="7200" b="1" i="0" u="none" strike="noStrike" cap="none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8" name="Google Shape;288;g3ddfedcbbf9_0_14"/>
          <p:cNvSpPr txBox="1"/>
          <p:nvPr/>
        </p:nvSpPr>
        <p:spPr>
          <a:xfrm>
            <a:off x="1157759" y="2500563"/>
            <a:ext cx="16192500" cy="612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2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Aug 2026</a:t>
            </a:r>
            <a:r>
              <a:rPr lang="en-US" sz="32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repo setup, LLM layer, concept extraction, LectureBank labels</a:t>
            </a:r>
            <a:endParaRPr sz="32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2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Aug 2026</a:t>
            </a:r>
            <a:r>
              <a:rPr lang="en-US" sz="32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classifier benchmarked; frozen-encoder baseline locked in (F1 0.569)</a:t>
            </a:r>
            <a:endParaRPr sz="32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2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Sep 2026</a:t>
            </a:r>
            <a:r>
              <a:rPr lang="en-US" sz="32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quiz loop, refinement experiment (F1 0.571 → 0.857), faculty dashboard</a:t>
            </a:r>
            <a:endParaRPr sz="32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2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Sep 2026</a:t>
            </a:r>
            <a:r>
              <a:rPr lang="en-US" sz="32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full 21–86 min lecture runs, server-graded MCQs, interactive DAG</a:t>
            </a:r>
            <a:endParaRPr sz="32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2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Sep 2026</a:t>
            </a:r>
            <a:r>
              <a:rPr lang="en-US" sz="32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job registry with live SSE progress, dark theme, 700+ tests passing</a:t>
            </a:r>
            <a:endParaRPr sz="32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2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Sem VIII</a:t>
            </a:r>
            <a:r>
              <a:rPr lang="en-US" sz="32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React frontend, job-queue hardening, wider evaluation, final report</a:t>
            </a:r>
            <a:endParaRPr sz="3200" dirty="0"/>
          </a:p>
        </p:txBody>
      </p:sp>
    </p:spTree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0"/>
          <p:cNvSpPr txBox="1"/>
          <p:nvPr/>
        </p:nvSpPr>
        <p:spPr>
          <a:xfrm>
            <a:off x="6409828" y="509154"/>
            <a:ext cx="5629771" cy="1279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0"/>
              <a:buFont typeface="Arial"/>
              <a:buNone/>
            </a:pPr>
            <a:r>
              <a:rPr lang="en-US" sz="7500" b="1" i="0" u="none" strike="noStrike" cap="none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References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0"/>
          <p:cNvSpPr txBox="1"/>
          <p:nvPr/>
        </p:nvSpPr>
        <p:spPr>
          <a:xfrm>
            <a:off x="1157759" y="2500563"/>
            <a:ext cx="16192500" cy="6120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marR="0" lvl="0" indent="-3429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Li et al., AAAI 2019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LectureBank: prerequisite chain learning benchmark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Li et al., ACL 2021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cross-domain prerequisite learning via graph autoencoders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Piech et al., NeurIPS 2015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Deep Knowledge Tracing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Radford et al., ICML 2023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Whisper: robust speech recognition via weak supervision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Hagberg et al., SciPy 2008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NetworkX graph analysis library</a:t>
            </a:r>
            <a:endParaRPr sz="3600" dirty="0"/>
          </a:p>
          <a:p>
            <a:pPr marL="342900" marR="0" lvl="0" indent="-342900" algn="l" rtl="0">
              <a:lnSpc>
                <a:spcPct val="130000"/>
              </a:lnSpc>
              <a:spcBef>
                <a:spcPts val="700"/>
              </a:spcBef>
              <a:spcAft>
                <a:spcPts val="0"/>
              </a:spcAft>
              <a:buClr>
                <a:srgbClr val="173764"/>
              </a:buClr>
              <a:buFont typeface="Arial"/>
              <a:buChar char="•"/>
            </a:pPr>
            <a:r>
              <a:rPr lang="en-US" sz="3600" b="1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YouLearn, Knowt, NotebookLM</a:t>
            </a:r>
            <a:r>
              <a:rPr lang="en-US" sz="3600" b="0" i="0" u="none" strike="noStrike" cap="none" dirty="0">
                <a:solidFill>
                  <a:srgbClr val="173764"/>
                </a:solidFill>
                <a:latin typeface="Poppins"/>
                <a:ea typeface="Poppins"/>
                <a:cs typeface="Poppins"/>
                <a:sym typeface="Poppins"/>
              </a:rPr>
              <a:t> — referenced for comparative positioning</a:t>
            </a:r>
            <a:endParaRPr sz="3600" dirty="0"/>
          </a:p>
        </p:txBody>
      </p:sp>
    </p:spTree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870</Words>
  <Application>Microsoft Office PowerPoint</Application>
  <PresentationFormat>Custom</PresentationFormat>
  <Paragraphs>88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Times New Roman</vt:lpstr>
      <vt:lpstr>Poppins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Aastha Devadiga</cp:lastModifiedBy>
  <cp:revision>2</cp:revision>
  <dcterms:created xsi:type="dcterms:W3CDTF">2006-08-16T00:00:00Z</dcterms:created>
  <dcterms:modified xsi:type="dcterms:W3CDTF">2026-10-23T12:46:46Z</dcterms:modified>
</cp:coreProperties>
</file>