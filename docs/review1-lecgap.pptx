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8" r:id="rId6"/>
    <p:sldId id="269" r:id="rId7"/>
    <p:sldId id="259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Poppins" panose="00000500000000000000" pitchFamily="2" charset="0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Sz+sGlIzU5CQtcX9ATExHC+qq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31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3209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835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145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8644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762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807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98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3228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5463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0905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949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dfedcbbf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ddfedcbbf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6214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885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9009653">
            <a:off x="-2694530" y="3642144"/>
            <a:ext cx="6215008" cy="6906496"/>
            <a:chOff x="0" y="0"/>
            <a:chExt cx="812800" cy="90323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903233"/>
            </a:xfrm>
            <a:custGeom>
              <a:avLst/>
              <a:gdLst/>
              <a:ahLst/>
              <a:cxnLst/>
              <a:rect l="l" t="t" r="r" b="b"/>
              <a:pathLst>
                <a:path w="812800" h="903233" extrusionOk="0">
                  <a:moveTo>
                    <a:pt x="406400" y="903233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03233"/>
                  </a:lnTo>
                  <a:close/>
                </a:path>
              </a:pathLst>
            </a:custGeom>
            <a:solidFill>
              <a:srgbClr val="173764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127000" y="26417"/>
              <a:ext cx="5589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 rot="6594421">
            <a:off x="-2788300" y="6947096"/>
            <a:ext cx="7633995" cy="6679746"/>
            <a:chOff x="0" y="0"/>
            <a:chExt cx="812800" cy="711200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CC0DF">
                <a:alpha val="58819"/>
              </a:srgbClr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6594421">
            <a:off x="-3377814" y="5307075"/>
            <a:ext cx="7633995" cy="6679746"/>
            <a:chOff x="0" y="0"/>
            <a:chExt cx="812800" cy="7112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9DE1F6">
                <a:alpha val="58819"/>
              </a:srgbClr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 txBox="1"/>
          <p:nvPr/>
        </p:nvSpPr>
        <p:spPr>
          <a:xfrm>
            <a:off x="5867400" y="1843594"/>
            <a:ext cx="10894200" cy="14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7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Title</a:t>
            </a:r>
            <a:endParaRPr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5867400" y="3469030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Team Members name: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Student 1, Student 2, Student 3, Student 4</a:t>
            </a:r>
            <a:endParaRPr dirty="0"/>
          </a:p>
        </p:txBody>
      </p:sp>
      <p:sp>
        <p:nvSpPr>
          <p:cNvPr id="95" name="Google Shape;95;p1"/>
          <p:cNvSpPr txBox="1"/>
          <p:nvPr/>
        </p:nvSpPr>
        <p:spPr>
          <a:xfrm>
            <a:off x="5867400" y="4086635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Name of the Guide: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Prof. /Dr. 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5867400" y="4693136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Domain: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AIML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5867400" y="5299637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Group Number: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Group Number 1</a:t>
            </a:r>
            <a:endParaRPr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5867400" y="5917242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Year: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BE</a:t>
            </a:r>
            <a:endParaRPr dirty="0"/>
          </a:p>
        </p:txBody>
      </p:sp>
      <p:sp>
        <p:nvSpPr>
          <p:cNvPr id="99" name="Google Shape;99;p1"/>
          <p:cNvSpPr txBox="1"/>
          <p:nvPr/>
        </p:nvSpPr>
        <p:spPr>
          <a:xfrm>
            <a:off x="5867400" y="6512639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Semester: </a:t>
            </a:r>
            <a:r>
              <a:rPr lang="en-US" sz="2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VII</a:t>
            </a:r>
            <a:endParaRPr dirty="0"/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113" y="743837"/>
            <a:ext cx="2411967" cy="23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4130850" y="983602"/>
            <a:ext cx="15512700" cy="151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  <a:highlight>
                  <a:srgbClr val="6D9EEB"/>
                </a:highlight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BHARAT COLLEGE OF ENGINEERING, BADLAPUR (W.)</a:t>
            </a:r>
            <a:endParaRPr sz="3600" b="1" dirty="0">
              <a:solidFill>
                <a:schemeClr val="lt1"/>
              </a:solidFill>
              <a:highlight>
                <a:srgbClr val="6D9EEB"/>
              </a:highlight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08" name="Google Shape;108;p2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10" name="Google Shape;110;p2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2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12" name="Google Shape;112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13" name="Google Shape;113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2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15" name="Google Shape;115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16" name="Google Shape;116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7" name="Google Shape;117;p2"/>
          <p:cNvSpPr txBox="1"/>
          <p:nvPr/>
        </p:nvSpPr>
        <p:spPr>
          <a:xfrm>
            <a:off x="7001818" y="452269"/>
            <a:ext cx="4504382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 dirty="0"/>
          </a:p>
        </p:txBody>
      </p:sp>
      <p:sp>
        <p:nvSpPr>
          <p:cNvPr id="118" name="Google Shape;118;p2"/>
          <p:cNvSpPr txBox="1"/>
          <p:nvPr/>
        </p:nvSpPr>
        <p:spPr>
          <a:xfrm>
            <a:off x="1157759" y="2326156"/>
            <a:ext cx="16192500" cy="646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 videos are widely available, but students have no way to know exactly which concept they personally need to revisit when they get confused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Existing AI study tools can quiz students and flag weak spots, but none of them understand which concepts are prerequisites of others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LecGap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automatically extracts concepts from lecture audio and visual content, and learns which concepts depend on which — evaluated against a public benchmark, not just assumed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The learned structure powers personalized, correctly-ordered remediation for students and a confusion-analytics dashboard for instructors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 refinement mechanism improves the system's understanding over time using real usage patterns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3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24" name="Google Shape;124;p3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26" name="Google Shape;126;p3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" name="Google Shape;127;p3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29" name="Google Shape;129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32" name="Google Shape;132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3"/>
          <p:cNvSpPr txBox="1"/>
          <p:nvPr/>
        </p:nvSpPr>
        <p:spPr>
          <a:xfrm>
            <a:off x="4284488" y="628391"/>
            <a:ext cx="9714235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026305" y="2644224"/>
            <a:ext cx="16230600" cy="527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Recorded lectures (YouTube, NPTEL, MOOCs) are widely available, but students have no way to identify exactly which concept they are missing when they fail to understand something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Existing AI study tools (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YouLearn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Knowt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NotebookLM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) generate quizzes and flashcards from lecture video, but treat every wrong answer independently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They do not know that understanding one concept requires understanding another first — students are shown what they got wrong, not what they need to learn first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Instructors have no visibility into where their class collectively struggled within a lecture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6" name="Google Shape;156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58" name="Google Shape;158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61" name="Google Shape;161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64" name="Google Shape;164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" name="Google Shape;165;p5"/>
          <p:cNvSpPr txBox="1"/>
          <p:nvPr/>
        </p:nvSpPr>
        <p:spPr>
          <a:xfrm>
            <a:off x="3825296" y="452269"/>
            <a:ext cx="11033704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Brief Literature Review</a:t>
            </a:r>
            <a:endParaRPr dirty="0"/>
          </a:p>
        </p:txBody>
      </p:sp>
      <p:sp>
        <p:nvSpPr>
          <p:cNvPr id="166" name="Google Shape;166;p5"/>
          <p:cNvSpPr txBox="1"/>
          <p:nvPr/>
        </p:nvSpPr>
        <p:spPr>
          <a:xfrm>
            <a:off x="1374552" y="2474286"/>
            <a:ext cx="15935192" cy="639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30000"/>
              </a:lnSpc>
              <a:spcBef>
                <a:spcPts val="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AI study tools (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YouLearn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Knowt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, 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NotebookLM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) — transcript-based quiz and flashcard generation with weak-spot review, but single-user tools with no concept of prerequisite structure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Prerequisite Relation Learning — </a:t>
            </a:r>
            <a:r>
              <a:rPr lang="en-US" sz="2800" dirty="0" err="1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LectureBank</a:t>
            </a: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 (Li et al., AAAI 2019) introduced a benchmark dataset and embedding-based methods for learning which concepts require which, across NLP, ML, AI, DL and IR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Cross-Domain Prerequisite Chain Learning (Li et al., ACL 2021) — extended prerequisite learning across domains using variational graph autoencoders, without needing labeled data in the new domain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lvl="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Deep Knowledge Tracing (DKT) — an established technique for predicting a student's concept mastery from past quiz responses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6" name="Google Shape;156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58" name="Google Shape;158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61" name="Google Shape;161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64" name="Google Shape;164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" name="Google Shape;165;p5"/>
          <p:cNvSpPr txBox="1"/>
          <p:nvPr/>
        </p:nvSpPr>
        <p:spPr>
          <a:xfrm>
            <a:off x="3825296" y="452269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7500" b="1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Research Gap</a:t>
            </a:r>
            <a:endParaRPr dirty="0"/>
          </a:p>
        </p:txBody>
      </p:sp>
      <p:sp>
        <p:nvSpPr>
          <p:cNvPr id="166" name="Google Shape;166;p5"/>
          <p:cNvSpPr txBox="1"/>
          <p:nvPr/>
        </p:nvSpPr>
        <p:spPr>
          <a:xfrm>
            <a:off x="1374552" y="2419319"/>
            <a:ext cx="15935192" cy="463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existing system combines automatic prerequisite-structure extraction, personalized remediation ordered by that structure, and instructor-facing analytics — each exists in isolation elsewhere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Prerequisite-structure extraction is typically evaluated once and left static; no existing system continuously refines it using real, ongoing usage data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Consumer AI study tools have no concept of a classroom — none surface where a professor's taught order diverges from the order students actually needed to learn concepts in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26442630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6" name="Google Shape;156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58" name="Google Shape;158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61" name="Google Shape;161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63" name="Google Shape;163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64" name="Google Shape;164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algn="ctr">
                  <a:lnSpc>
                    <a:spcPct val="147722"/>
                  </a:lnSpc>
                </a:pPr>
                <a:endParaRPr sz="18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5" name="Google Shape;165;p5"/>
          <p:cNvSpPr txBox="1"/>
          <p:nvPr/>
        </p:nvSpPr>
        <p:spPr>
          <a:xfrm>
            <a:off x="3825296" y="527642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sz="7500" b="1" dirty="0">
                <a:solidFill>
                  <a:srgbClr val="173764"/>
                </a:solidFill>
                <a:latin typeface="Poppins"/>
                <a:cs typeface="Poppins"/>
              </a:rPr>
              <a:t>Project Objectives</a:t>
            </a:r>
            <a:endParaRPr sz="7500" b="1" dirty="0">
              <a:solidFill>
                <a:srgbClr val="173764"/>
              </a:solidFill>
              <a:latin typeface="Poppins"/>
              <a:cs typeface="Poppins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374552" y="2419319"/>
            <a:ext cx="15935192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Automatically extract concepts from lecture audio and visual content, including concepts shown on screen but never spoken aloud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Build and evaluate a model that determines prerequisite relationships between concepts, benchmarked against a public dataset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Use the resulting concept graph to generate personalized, correctly-ordered remediation content for students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Design and validate a refinement mechanism that improves the concept graph's accuracy using real usage data over time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  <a:p>
            <a:pPr marL="342900" indent="-342900">
              <a:lnSpc>
                <a:spcPct val="130000"/>
              </a:lnSpc>
              <a:spcBef>
                <a:spcPts val="600"/>
              </a:spcBef>
              <a:buClr>
                <a:srgbClr val="173764"/>
              </a:buClr>
              <a:buFont typeface="Arial"/>
              <a:buChar char="•"/>
            </a:pPr>
            <a:r>
              <a:rPr lang="en-US" sz="2800" dirty="0">
                <a:solidFill>
                  <a:srgbClr val="173764"/>
                </a:solidFill>
                <a:latin typeface="Poppins"/>
                <a:cs typeface="Poppins"/>
                <a:sym typeface="Poppins"/>
              </a:rPr>
              <a:t>Provide instructors a dashboard highlighting classroom-wide confusion and divergence between taught order and learned order</a:t>
            </a:r>
            <a:endParaRPr sz="2800" dirty="0">
              <a:solidFill>
                <a:srgbClr val="173764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6799175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4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40" name="Google Shape;140;p4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42" name="Google Shape;142;p4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45" name="Google Shape;145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4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48" name="Google Shape;148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9" name="Google Shape;149;p4"/>
          <p:cNvSpPr txBox="1"/>
          <p:nvPr/>
        </p:nvSpPr>
        <p:spPr>
          <a:xfrm>
            <a:off x="3341189" y="605635"/>
            <a:ext cx="1274064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Proposed </a:t>
            </a:r>
            <a:r>
              <a:rPr lang="en-US" sz="75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dirty="0"/>
          </a:p>
        </p:txBody>
      </p:sp>
      <p:sp>
        <p:nvSpPr>
          <p:cNvPr id="150" name="Google Shape;150;p4"/>
          <p:cNvSpPr txBox="1"/>
          <p:nvPr/>
        </p:nvSpPr>
        <p:spPr>
          <a:xfrm>
            <a:off x="1810777" y="2810917"/>
            <a:ext cx="16238178" cy="486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Transcribe lecture audio using Whisper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Extract concepts from speech (LLM) and visuals (CLIP + OCR)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Classify prerequisite relationships using a fine-tuned model, evaluated against the </a:t>
            </a: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benchmark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Construct a directed concept graph for the course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Segment the video into per-concept clips and generate quizzes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Use quiz results to trigger dependency-ordered remediation, and refine the graph over time using real usage data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6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72" name="Google Shape;172;p6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74" name="Google Shape;174;p6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6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76" name="Google Shape;176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77" name="Google Shape;177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6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79" name="Google Shape;179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80" name="Google Shape;180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1" name="Google Shape;181;p6"/>
          <p:cNvSpPr txBox="1"/>
          <p:nvPr/>
        </p:nvSpPr>
        <p:spPr>
          <a:xfrm>
            <a:off x="1324108" y="575829"/>
            <a:ext cx="15074132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IN" sz="72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System Architecture / Flowchart</a:t>
            </a:r>
            <a:endParaRPr sz="7200"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324108" y="2822446"/>
            <a:ext cx="15935192" cy="2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An 8-stage pipeline takes a lecture recording as input and produces both personalized student remediation and instructor analytics as output</a:t>
            </a:r>
            <a:endParaRPr/>
          </a:p>
        </p:txBody>
      </p:sp>
      <p:sp>
        <p:nvSpPr>
          <p:cNvPr id="501" name="FlowBox"/>
          <p:cNvSpPr/>
          <p:nvPr/>
        </p:nvSpPr>
        <p:spPr>
          <a:xfrm>
            <a:off x="1525711" y="42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1. Transcription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(Whisper)</a:t>
            </a:r>
          </a:p>
        </p:txBody>
      </p:sp>
      <p:sp>
        <p:nvSpPr>
          <p:cNvPr id="502" name="FlowArrow"/>
          <p:cNvSpPr/>
          <p:nvPr/>
        </p:nvSpPr>
        <p:spPr>
          <a:xfrm>
            <a:off x="5025711" y="4500001"/>
            <a:ext cx="350000" cy="300000"/>
          </a:xfrm>
          <a:prstGeom prst="righ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" name="FlowBox"/>
          <p:cNvSpPr/>
          <p:nvPr/>
        </p:nvSpPr>
        <p:spPr>
          <a:xfrm>
            <a:off x="5375711" y="42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2. Concept Extraction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(LLM + CLIP/OCR)</a:t>
            </a:r>
          </a:p>
        </p:txBody>
      </p:sp>
      <p:sp>
        <p:nvSpPr>
          <p:cNvPr id="504" name="FlowArrow"/>
          <p:cNvSpPr/>
          <p:nvPr/>
        </p:nvSpPr>
        <p:spPr>
          <a:xfrm>
            <a:off x="8875711" y="4500001"/>
            <a:ext cx="350000" cy="300000"/>
          </a:xfrm>
          <a:prstGeom prst="righ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" name="FlowBox"/>
          <p:cNvSpPr/>
          <p:nvPr/>
        </p:nvSpPr>
        <p:spPr>
          <a:xfrm>
            <a:off x="9225711" y="42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3. Prerequisite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Classification</a:t>
            </a:r>
          </a:p>
        </p:txBody>
      </p:sp>
      <p:sp>
        <p:nvSpPr>
          <p:cNvPr id="506" name="FlowArrow"/>
          <p:cNvSpPr/>
          <p:nvPr/>
        </p:nvSpPr>
        <p:spPr>
          <a:xfrm>
            <a:off x="12725711" y="4500001"/>
            <a:ext cx="350000" cy="300000"/>
          </a:xfrm>
          <a:prstGeom prst="righ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7" name="FlowBox"/>
          <p:cNvSpPr/>
          <p:nvPr/>
        </p:nvSpPr>
        <p:spPr>
          <a:xfrm>
            <a:off x="13075711" y="42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4. Graph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Construction</a:t>
            </a:r>
          </a:p>
        </p:txBody>
      </p:sp>
      <p:sp>
        <p:nvSpPr>
          <p:cNvPr id="508" name="FlowArrowDown"/>
          <p:cNvSpPr/>
          <p:nvPr/>
        </p:nvSpPr>
        <p:spPr>
          <a:xfrm>
            <a:off x="14675711" y="5250001"/>
            <a:ext cx="300000" cy="900000"/>
          </a:xfrm>
          <a:prstGeom prst="down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9" name="FlowBox"/>
          <p:cNvSpPr/>
          <p:nvPr/>
        </p:nvSpPr>
        <p:spPr>
          <a:xfrm>
            <a:off x="13075711" y="63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5. Clip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Segmentation</a:t>
            </a:r>
          </a:p>
        </p:txBody>
      </p:sp>
      <p:sp>
        <p:nvSpPr>
          <p:cNvPr id="510" name="FlowArrowLeft"/>
          <p:cNvSpPr/>
          <p:nvPr/>
        </p:nvSpPr>
        <p:spPr>
          <a:xfrm>
            <a:off x="12725711" y="6600001"/>
            <a:ext cx="350000" cy="300000"/>
          </a:xfrm>
          <a:prstGeom prst="lef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FlowBox"/>
          <p:cNvSpPr/>
          <p:nvPr/>
        </p:nvSpPr>
        <p:spPr>
          <a:xfrm>
            <a:off x="9225711" y="63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6. Student Quiz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</a:p>
        </p:txBody>
      </p:sp>
      <p:sp>
        <p:nvSpPr>
          <p:cNvPr id="512" name="FlowArrowLeft"/>
          <p:cNvSpPr/>
          <p:nvPr/>
        </p:nvSpPr>
        <p:spPr>
          <a:xfrm>
            <a:off x="8875711" y="6600001"/>
            <a:ext cx="350000" cy="300000"/>
          </a:xfrm>
          <a:prstGeom prst="lef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FlowBox"/>
          <p:cNvSpPr/>
          <p:nvPr/>
        </p:nvSpPr>
        <p:spPr>
          <a:xfrm>
            <a:off x="5375711" y="63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7. Refinement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</a:p>
        </p:txBody>
      </p:sp>
      <p:sp>
        <p:nvSpPr>
          <p:cNvPr id="514" name="FlowArrowLeft"/>
          <p:cNvSpPr/>
          <p:nvPr/>
        </p:nvSpPr>
        <p:spPr>
          <a:xfrm>
            <a:off x="5025711" y="6600001"/>
            <a:ext cx="350000" cy="300000"/>
          </a:xfrm>
          <a:prstGeom prst="leftArrow">
            <a:avLst/>
          </a:prstGeom>
          <a:solidFill>
            <a:srgbClr val="0CC0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FlowBox"/>
          <p:cNvSpPr/>
          <p:nvPr/>
        </p:nvSpPr>
        <p:spPr>
          <a:xfrm>
            <a:off x="1525711" y="6300001"/>
            <a:ext cx="3500000" cy="900000"/>
          </a:xfrm>
          <a:prstGeom prst="roundRect">
            <a:avLst>
              <a:gd name="adj" fmla="val 8000"/>
            </a:avLst>
          </a:prstGeom>
          <a:solidFill>
            <a:srgbClr val="E9F3FA"/>
          </a:solidFill>
          <a:ln w="19050">
            <a:solidFill>
              <a:srgbClr val="173764"/>
            </a:solidFill>
          </a:ln>
        </p:spPr>
        <p:txBody>
          <a:bodyPr wrap="square" lIns="45720" tIns="27432" rIns="45720" bIns="27432" anchor="ctr" anchorCtr="1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8. Faculty</a:t>
            </a: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8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88" name="Google Shape;188;p8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89" name="Google Shape;189;p8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190" name="Google Shape;190;p8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8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92" name="Google Shape;192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93" name="Google Shape;193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4" name="Google Shape;194;p8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95" name="Google Shape;195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196" name="Google Shape;196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7" name="Google Shape;197;p8"/>
          <p:cNvSpPr txBox="1"/>
          <p:nvPr/>
        </p:nvSpPr>
        <p:spPr>
          <a:xfrm>
            <a:off x="4786928" y="533486"/>
            <a:ext cx="959612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IN" sz="80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Dataset Description</a:t>
            </a:r>
            <a:endParaRPr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509442" y="2644224"/>
            <a:ext cx="16151092" cy="351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 recordings: publicly available NPTEL and YouTube ML/DL/NLP course lectures, used for concept extraction and system demonstration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Evaluation benchmark: </a:t>
            </a: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1,352 lecture files across 60 courses in NLP, ML, AI, DL and IR, with 208 manually-labeled prerequisite concept pairs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Synthetic evaluation data: LLM-generated synthetic student response patterns, used to validate the refinement loop in a controlled setting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9"/>
          <p:cNvGrpSpPr/>
          <p:nvPr/>
        </p:nvGrpSpPr>
        <p:grpSpPr>
          <a:xfrm rot="-5830662">
            <a:off x="12075128" y="1560288"/>
            <a:ext cx="11238105" cy="10840393"/>
            <a:chOff x="0" y="0"/>
            <a:chExt cx="14984139" cy="14453857"/>
          </a:xfrm>
        </p:grpSpPr>
        <p:grpSp>
          <p:nvGrpSpPr>
            <p:cNvPr id="204" name="Google Shape;204;p9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205" name="Google Shape;205;p9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206" name="Google Shape;206;p9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209" name="Google Shape;209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9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11" name="Google Shape;211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09"/>
                </a:srgbClr>
              </a:solidFill>
              <a:ln>
                <a:noFill/>
              </a:ln>
            </p:spPr>
          </p:sp>
          <p:sp>
            <p:nvSpPr>
              <p:cNvPr id="212" name="Google Shape;212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3" name="Google Shape;213;p9"/>
          <p:cNvSpPr txBox="1"/>
          <p:nvPr/>
        </p:nvSpPr>
        <p:spPr>
          <a:xfrm>
            <a:off x="772160" y="555989"/>
            <a:ext cx="1674368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IN" sz="80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AI/ML Techniques and Algorithms</a:t>
            </a:r>
            <a:endParaRPr b="1" dirty="0">
              <a:solidFill>
                <a:schemeClr val="bg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1103491" y="2706095"/>
            <a:ext cx="16412349" cy="534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Speech-to-Text: Whisper, for lecture transcription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Concept Extraction: LLM-based extraction for spoken/implicit concepts, CLIP for visual frame-to-concept matching, OCR for on-screen text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Prerequisite Classification: fine-tuned pretrained embedding model with an LLM reasoning cross-check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Graph Modeling: directed acyclic graph construction with confidence-weighted topological sorting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Knowledge Refinement: weak-supervision-based graph correction using aggregated quiz-performance signals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g3ddfedcbbf9_0_14"/>
          <p:cNvGrpSpPr/>
          <p:nvPr/>
        </p:nvGrpSpPr>
        <p:grpSpPr>
          <a:xfrm rot="-5830628">
            <a:off x="12075261" y="1560686"/>
            <a:ext cx="11237700" cy="10840054"/>
            <a:chOff x="51" y="22"/>
            <a:chExt cx="14984072" cy="14453862"/>
          </a:xfrm>
        </p:grpSpPr>
        <p:grpSp>
          <p:nvGrpSpPr>
            <p:cNvPr id="220" name="Google Shape;220;g3ddfedcbbf9_0_14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21" name="Google Shape;221;g3ddfedcbbf9_0_1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10"/>
                </a:srgbClr>
              </a:solidFill>
              <a:ln>
                <a:noFill/>
              </a:ln>
            </p:spPr>
          </p:sp>
          <p:sp>
            <p:nvSpPr>
              <p:cNvPr id="222" name="Google Shape;222;g3ddfedcbbf9_0_14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g3ddfedcbbf9_0_14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24" name="Google Shape;224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25" name="Google Shape;225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g3ddfedcbbf9_0_14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27" name="Google Shape;227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28" name="Google Shape;228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9" name="Google Shape;229;g3ddfedcbbf9_0_14"/>
          <p:cNvSpPr txBox="1"/>
          <p:nvPr/>
        </p:nvSpPr>
        <p:spPr>
          <a:xfrm>
            <a:off x="3943139" y="724397"/>
            <a:ext cx="10401722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  <a:buClr>
                <a:schemeClr val="dk1"/>
              </a:buClr>
            </a:pPr>
            <a:r>
              <a:rPr lang="en-IN" sz="7500" b="1" dirty="0">
                <a:solidFill>
                  <a:schemeClr val="bg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Timeline</a:t>
            </a:r>
            <a:endParaRPr sz="7500" b="1" dirty="0">
              <a:solidFill>
                <a:schemeClr val="bg2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30" name="Google Shape;230;g3ddfedcbbf9_0_14"/>
          <p:cNvSpPr txBox="1"/>
          <p:nvPr/>
        </p:nvSpPr>
        <p:spPr>
          <a:xfrm>
            <a:off x="1111997" y="2735454"/>
            <a:ext cx="16064006" cy="2877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 7: Planning, research, architecture design and complete documentation (current stage)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 8: Full implementation — pipeline development, classifier evaluation against benchmark, refinement-loop validation, dashboard development, integration and testing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/>
        </p:nvSpPr>
        <p:spPr>
          <a:xfrm>
            <a:off x="6329114" y="538182"/>
            <a:ext cx="5629771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140000"/>
              </a:lnSpc>
              <a:buNone/>
              <a:defRPr sz="7500" b="1">
                <a:solidFill>
                  <a:srgbClr val="17376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n-US" dirty="0">
                <a:sym typeface="Poppins"/>
              </a:rPr>
              <a:t>References</a:t>
            </a:r>
            <a:endParaRPr dirty="0"/>
          </a:p>
        </p:txBody>
      </p:sp>
      <p:sp>
        <p:nvSpPr>
          <p:cNvPr id="236" name="Google Shape;236;p10"/>
          <p:cNvSpPr txBox="1"/>
          <p:nvPr/>
        </p:nvSpPr>
        <p:spPr>
          <a:xfrm>
            <a:off x="1324108" y="2822446"/>
            <a:ext cx="16354292" cy="463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Li, I., Fabbri, A. R., Tung, R. R., &amp; Radev, D. R. (2019). What Should I Learn First: Introducing </a:t>
            </a: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for NLP Education and Prerequisite Chain Learning. Proceedings of the AAAI Conference on Artificial Intelligence, 33(01), 6674–6681.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Li, I., Yan, V., Li, T., Qu, R., &amp; Radev, D. R. (2021). Unsupervised Cross-Domain Prerequisite Chain Learning using Variational Graph Autoencoders. Proceedings of the 59th Annual Meeting of the Association for Computational Linguistics.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YouLearn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Knowt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800" b="0" i="0" u="none" strike="noStrike" cap="none" dirty="0" err="1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referenced as existing AI-based lecture study tools for comparative analysis</a:t>
            </a:r>
            <a:endParaRPr sz="28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979</Words>
  <Application>Microsoft Office PowerPoint</Application>
  <PresentationFormat>Custom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Poppins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Aastha Devadiga</dc:creator>
  <cp:lastModifiedBy>Aastha Devadiga</cp:lastModifiedBy>
  <cp:revision>6</cp:revision>
  <dcterms:created xsi:type="dcterms:W3CDTF">2006-08-16T00:00:00Z</dcterms:created>
  <dcterms:modified xsi:type="dcterms:W3CDTF">2026-08-17T23:12:21Z</dcterms:modified>
</cp:coreProperties>
</file>