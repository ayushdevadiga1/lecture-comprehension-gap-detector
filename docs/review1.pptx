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8" r:id="rId6"/>
    <p:sldId id="269" r:id="rId7"/>
    <p:sldId id="259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Sz+sGlIzU5CQtcX9ATExHC+qq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354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3209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5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5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4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2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07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28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63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05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9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fedcbbf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ddfedcbbf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14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5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9009653">
            <a:off x="-2694530" y="3642144"/>
            <a:ext cx="6215008" cy="6906496"/>
            <a:chOff x="0" y="0"/>
            <a:chExt cx="812800" cy="9032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903233"/>
            </a:xfrm>
            <a:custGeom>
              <a:avLst/>
              <a:gdLst/>
              <a:ahLst/>
              <a:cxnLst/>
              <a:rect l="l" t="t" r="r" b="b"/>
              <a:pathLst>
                <a:path w="812800" h="903233" extrusionOk="0">
                  <a:moveTo>
                    <a:pt x="406400" y="903233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03233"/>
                  </a:lnTo>
                  <a:close/>
                </a:path>
              </a:pathLst>
            </a:custGeom>
            <a:solidFill>
              <a:srgbClr val="17376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127000" y="26417"/>
              <a:ext cx="558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6594421">
            <a:off x="-2788300" y="6947096"/>
            <a:ext cx="7633995" cy="6679746"/>
            <a:chOff x="0" y="0"/>
            <a:chExt cx="812800" cy="7112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CC0DF">
                <a:alpha val="58819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6594421">
            <a:off x="-3377814" y="5307075"/>
            <a:ext cx="7633995" cy="6679746"/>
            <a:chOff x="0" y="0"/>
            <a:chExt cx="812800" cy="7112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9DE1F6">
                <a:alpha val="58819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4826724" y="1268312"/>
            <a:ext cx="13815955" cy="198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sng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LecGap – Lecture Based Gap Prediction </a:t>
            </a:r>
            <a:endParaRPr u="sng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4879155" y="3057507"/>
            <a:ext cx="13230351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Team Members name:  </a:t>
            </a:r>
            <a:r>
              <a:rPr lang="en-US" sz="220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Soham Gawas, Bhargav Ghawali, Mahesh Gawali, Ayush Devadiga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4879155" y="3673235"/>
            <a:ext cx="13080276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Name of Project Coordinator: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Prof Swati Gaikwad 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4880151" y="4225749"/>
            <a:ext cx="1302784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Domain: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AIML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4879155" y="4770515"/>
            <a:ext cx="12956631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Group Number: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Group Number 8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4879155" y="5388120"/>
            <a:ext cx="12956631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Year: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BE</a:t>
            </a:r>
            <a:endParaRPr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4879155" y="5940634"/>
            <a:ext cx="12956631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VII</a:t>
            </a:r>
            <a:endParaRPr dirty="0"/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827" y="655993"/>
            <a:ext cx="2907116" cy="278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4707568" y="1071245"/>
            <a:ext cx="1248160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highlight>
                  <a:srgbClr val="6D9EEB"/>
                </a:highlight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BHARAT COLLEGE OF ENGINEERING, BADLAPUR (W.)</a:t>
            </a:r>
            <a:endParaRPr sz="3600" b="1" dirty="0">
              <a:solidFill>
                <a:schemeClr val="lt1"/>
              </a:solidFill>
              <a:highlight>
                <a:srgbClr val="6D9EEB"/>
              </a:highlight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08" name="Google Shape;108;p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Google Shape;110;p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12" name="Google Shape;112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Google Shape;113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Google Shape;116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7" name="Google Shape;117;p2"/>
          <p:cNvSpPr txBox="1"/>
          <p:nvPr/>
        </p:nvSpPr>
        <p:spPr>
          <a:xfrm>
            <a:off x="7001818" y="452269"/>
            <a:ext cx="4504382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 dirty="0"/>
          </a:p>
        </p:txBody>
      </p:sp>
      <p:sp>
        <p:nvSpPr>
          <p:cNvPr id="118" name="Google Shape;118;p2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Recorded lectures are everywhere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comprehension gaps aren't tracked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Existing AI tools quiz students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but ignore concept dependencies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LecGap learns prerequisite structure automatically,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benchmarked for accuracy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Delivers personalized remediation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for students, analytics for instructors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Self-improves continuously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from real usage data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24" name="Google Shape;124;p3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Google Shape;126;p3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3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Google Shape;129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Google Shape;132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3"/>
          <p:cNvSpPr txBox="1"/>
          <p:nvPr/>
        </p:nvSpPr>
        <p:spPr>
          <a:xfrm>
            <a:off x="4284488" y="628391"/>
            <a:ext cx="9714235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026306" y="2882332"/>
            <a:ext cx="16230600" cy="347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Video ≠ understanding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no way to diagnose the exact gap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 quiz tools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treat every wrong answer independently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Students see mistakes,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not what to learn first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Instructors get zero visibility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into classroom-wide confusion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6" y="452269"/>
            <a:ext cx="11033704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Brief Literature Review</a:t>
            </a:r>
            <a:endParaRPr dirty="0"/>
          </a:p>
        </p:txBody>
      </p:sp>
      <p:sp>
        <p:nvSpPr>
          <p:cNvPr id="166" name="Google Shape;166;p5"/>
          <p:cNvSpPr txBox="1"/>
          <p:nvPr/>
        </p:nvSpPr>
        <p:spPr>
          <a:xfrm>
            <a:off x="1356345" y="2644224"/>
            <a:ext cx="15570521" cy="411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 study tools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32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YouLearn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2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Knowt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2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) — quizzes, no prerequisite modeling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(2019)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benchmark for concept-prerequisite learning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Cross-domain graph learning (2021)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prerequisite transfer across subjects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Deep Knowledge Tracing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predicts mastery from quiz history</a:t>
            </a:r>
            <a:endParaRPr sz="32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6" y="578808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7500" b="1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Research Gap</a:t>
            </a:r>
            <a:endParaRPr dirty="0"/>
          </a:p>
        </p:txBody>
      </p:sp>
      <p:sp>
        <p:nvSpPr>
          <p:cNvPr id="166" name="Google Shape;166;p5"/>
          <p:cNvSpPr txBox="1"/>
          <p:nvPr/>
        </p:nvSpPr>
        <p:spPr>
          <a:xfrm>
            <a:off x="1203945" y="2760046"/>
            <a:ext cx="15875321" cy="338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system combines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auto-extraction + remediation + instructor analytics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Prerequisite models are trained once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and never self-correct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tool understands a classroom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LecGap does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26442630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5" y="579464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75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Objectives</a:t>
            </a:r>
            <a:endParaRPr sz="7500"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339173" y="2644224"/>
            <a:ext cx="15976921" cy="436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Extract concepts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from lecture audio and visuals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Classify prerequisites,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benchmarked for accuracy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Personalize remediation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by dependency order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Refine the model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continuously from usage data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Give instructors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classroom-wide diagnostic insight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96799175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40" name="Google Shape;140;p4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Google Shape;142;p4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Google Shape;145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Google Shape;148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9" name="Google Shape;149;p4"/>
          <p:cNvSpPr txBox="1"/>
          <p:nvPr/>
        </p:nvSpPr>
        <p:spPr>
          <a:xfrm>
            <a:off x="2963817" y="527642"/>
            <a:ext cx="1274064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Proposed </a:t>
            </a: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dirty="0"/>
          </a:p>
        </p:txBody>
      </p:sp>
      <p:sp>
        <p:nvSpPr>
          <p:cNvPr id="150" name="Google Shape;150;p4"/>
          <p:cNvSpPr txBox="1"/>
          <p:nvPr/>
        </p:nvSpPr>
        <p:spPr>
          <a:xfrm>
            <a:off x="1218460" y="2519110"/>
            <a:ext cx="15846292" cy="605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Transcribe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lecture audio (Whisper)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Extract concepts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spoken (LLM) + visual (CLIP/OCR)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Classify prerequisites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fine-tuned model, benchmark-evaluated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 per-course concept graph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Segment clips,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generate quizzes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Trigger dependency-ordered remediation,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refine over time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6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72" name="Google Shape;172;p6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Google Shape;174;p6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6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76" name="Google Shape;176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Google Shape;177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6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79" name="Google Shape;179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Google Shape;180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1" name="Google Shape;181;p6"/>
          <p:cNvSpPr txBox="1"/>
          <p:nvPr/>
        </p:nvSpPr>
        <p:spPr>
          <a:xfrm>
            <a:off x="1425706" y="579187"/>
            <a:ext cx="15773721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72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System Architecture / Flowchart</a:t>
            </a:r>
            <a:endParaRPr sz="7200"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324107" y="2822445"/>
            <a:ext cx="15976921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One pipeline, two outputs: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student remediation + instructor analytics</a:t>
            </a:r>
            <a:endParaRPr sz="3200" dirty="0"/>
          </a:p>
        </p:txBody>
      </p:sp>
      <p:sp>
        <p:nvSpPr>
          <p:cNvPr id="501" name="FlowBox"/>
          <p:cNvSpPr/>
          <p:nvPr/>
        </p:nvSpPr>
        <p:spPr>
          <a:xfrm>
            <a:off x="1409599" y="43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1. Transcription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(Whisper)</a:t>
            </a:r>
          </a:p>
        </p:txBody>
      </p:sp>
      <p:sp>
        <p:nvSpPr>
          <p:cNvPr id="502" name="FlowArrow"/>
          <p:cNvSpPr/>
          <p:nvPr/>
        </p:nvSpPr>
        <p:spPr>
          <a:xfrm>
            <a:off x="4909599" y="4688686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FlowBox"/>
          <p:cNvSpPr/>
          <p:nvPr/>
        </p:nvSpPr>
        <p:spPr>
          <a:xfrm>
            <a:off x="5259599" y="43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2. Concept Extraction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(LLM + CLIP/OCR)</a:t>
            </a:r>
          </a:p>
        </p:txBody>
      </p:sp>
      <p:sp>
        <p:nvSpPr>
          <p:cNvPr id="504" name="FlowArrow"/>
          <p:cNvSpPr/>
          <p:nvPr/>
        </p:nvSpPr>
        <p:spPr>
          <a:xfrm>
            <a:off x="8759599" y="4688686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" name="FlowBox"/>
          <p:cNvSpPr/>
          <p:nvPr/>
        </p:nvSpPr>
        <p:spPr>
          <a:xfrm>
            <a:off x="9109599" y="43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3. Prerequisite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</a:p>
        </p:txBody>
      </p:sp>
      <p:sp>
        <p:nvSpPr>
          <p:cNvPr id="506" name="FlowArrow"/>
          <p:cNvSpPr/>
          <p:nvPr/>
        </p:nvSpPr>
        <p:spPr>
          <a:xfrm>
            <a:off x="12609599" y="4688686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FlowBox"/>
          <p:cNvSpPr/>
          <p:nvPr/>
        </p:nvSpPr>
        <p:spPr>
          <a:xfrm>
            <a:off x="12959599" y="43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4. Graph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Construction</a:t>
            </a:r>
          </a:p>
        </p:txBody>
      </p:sp>
      <p:sp>
        <p:nvSpPr>
          <p:cNvPr id="508" name="FlowArrowDown"/>
          <p:cNvSpPr/>
          <p:nvPr/>
        </p:nvSpPr>
        <p:spPr>
          <a:xfrm>
            <a:off x="14559599" y="5438686"/>
            <a:ext cx="300000" cy="900000"/>
          </a:xfrm>
          <a:prstGeom prst="down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FlowBox"/>
          <p:cNvSpPr/>
          <p:nvPr/>
        </p:nvSpPr>
        <p:spPr>
          <a:xfrm>
            <a:off x="12959599" y="64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5. Clip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Segmentation</a:t>
            </a:r>
          </a:p>
        </p:txBody>
      </p:sp>
      <p:sp>
        <p:nvSpPr>
          <p:cNvPr id="510" name="FlowArrowLeft"/>
          <p:cNvSpPr/>
          <p:nvPr/>
        </p:nvSpPr>
        <p:spPr>
          <a:xfrm>
            <a:off x="12609599" y="6788686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FlowBox"/>
          <p:cNvSpPr/>
          <p:nvPr/>
        </p:nvSpPr>
        <p:spPr>
          <a:xfrm>
            <a:off x="9109599" y="64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6. Student Quiz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</a:p>
        </p:txBody>
      </p:sp>
      <p:sp>
        <p:nvSpPr>
          <p:cNvPr id="512" name="FlowArrowLeft"/>
          <p:cNvSpPr/>
          <p:nvPr/>
        </p:nvSpPr>
        <p:spPr>
          <a:xfrm>
            <a:off x="8759599" y="6788686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FlowBox"/>
          <p:cNvSpPr/>
          <p:nvPr/>
        </p:nvSpPr>
        <p:spPr>
          <a:xfrm>
            <a:off x="5259599" y="64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7. Refinement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</a:p>
        </p:txBody>
      </p:sp>
      <p:sp>
        <p:nvSpPr>
          <p:cNvPr id="514" name="FlowArrowLeft"/>
          <p:cNvSpPr/>
          <p:nvPr/>
        </p:nvSpPr>
        <p:spPr>
          <a:xfrm>
            <a:off x="4909599" y="6788686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FlowBox"/>
          <p:cNvSpPr/>
          <p:nvPr/>
        </p:nvSpPr>
        <p:spPr>
          <a:xfrm>
            <a:off x="1409599" y="6488686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8. Faculty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8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88" name="Google Shape;188;p8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89" name="Google Shape;189;p8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Google Shape;190;p8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8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92" name="Google Shape;192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Google Shape;193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8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95" name="Google Shape;195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Google Shape;196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8"/>
          <p:cNvSpPr txBox="1"/>
          <p:nvPr/>
        </p:nvSpPr>
        <p:spPr>
          <a:xfrm>
            <a:off x="3586916" y="837666"/>
            <a:ext cx="1110938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80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Dataset Description</a:t>
            </a:r>
            <a:endParaRPr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338621" y="3304036"/>
            <a:ext cx="16078521" cy="25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 recordings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NPTEL &amp; YouTube (ML/DL/NLP)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1,352 files, 208 labeled prerequisite pairs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Synthetic student data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for controlled refinement testing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9"/>
          <p:cNvGrpSpPr/>
          <p:nvPr/>
        </p:nvGrpSpPr>
        <p:grpSpPr>
          <a:xfrm rot="-5830662">
            <a:off x="12075128" y="1560288"/>
            <a:ext cx="11238105" cy="10840393"/>
            <a:chOff x="0" y="0"/>
            <a:chExt cx="14984139" cy="14453857"/>
          </a:xfrm>
        </p:grpSpPr>
        <p:grpSp>
          <p:nvGrpSpPr>
            <p:cNvPr id="204" name="Google Shape;204;p9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05" name="Google Shape;205;p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Google Shape;206;p9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Google Shape;209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9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11" name="Google Shape;211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Google Shape;212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9"/>
          <p:cNvSpPr txBox="1"/>
          <p:nvPr/>
        </p:nvSpPr>
        <p:spPr>
          <a:xfrm>
            <a:off x="323403" y="449066"/>
            <a:ext cx="17791611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80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AI/ML Techniques and Algorithms</a:t>
            </a:r>
            <a:endParaRPr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1383263" y="2622449"/>
            <a:ext cx="16191732" cy="436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Whisper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speech-to-text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LLM + CLIP + OCR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concept extraction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Fine-tuned embeddings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prerequisite classification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NetworkX</a:t>
            </a: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DAG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graph modeling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Weak supervision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continuous refinement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g3ddfedcbbf9_0_14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20" name="Google Shape;220;g3ddfedcbbf9_0_14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21" name="Google Shape;221;g3ddfedcbbf9_0_1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Google Shape;222;g3ddfedcbbf9_0_14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g3ddfedcbbf9_0_14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24" name="Google Shape;224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Google Shape;225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g3ddfedcbbf9_0_14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27" name="Google Shape;227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Google Shape;228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9" name="Google Shape;229;g3ddfedcbbf9_0_14"/>
          <p:cNvSpPr txBox="1"/>
          <p:nvPr/>
        </p:nvSpPr>
        <p:spPr>
          <a:xfrm>
            <a:off x="3943139" y="598570"/>
            <a:ext cx="10401722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  <a:buClr>
                <a:schemeClr val="dk1"/>
              </a:buClr>
            </a:pPr>
            <a:r>
              <a:rPr lang="en-IN" sz="72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Timeline</a:t>
            </a:r>
            <a:endParaRPr sz="7200" b="1" dirty="0">
              <a:solidFill>
                <a:schemeClr val="bg2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30" name="Google Shape;230;g3ddfedcbbf9_0_14"/>
          <p:cNvSpPr txBox="1"/>
          <p:nvPr/>
        </p:nvSpPr>
        <p:spPr>
          <a:xfrm>
            <a:off x="1342612" y="2886958"/>
            <a:ext cx="15976921" cy="273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4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 7</a:t>
            </a:r>
            <a:r>
              <a:rPr lang="en-US" sz="44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planning, architecture, full documentation</a:t>
            </a:r>
            <a:endParaRPr sz="44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4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 8</a:t>
            </a:r>
            <a:r>
              <a:rPr lang="en-US" sz="44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implementation, evaluation, testing</a:t>
            </a:r>
            <a:endParaRPr sz="44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/>
        </p:nvSpPr>
        <p:spPr>
          <a:xfrm>
            <a:off x="6409828" y="509154"/>
            <a:ext cx="5629771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1222507" y="2677303"/>
            <a:ext cx="16281721" cy="450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 et al., AAAI 2019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lang="en-US" sz="36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: prerequisite chain learning benchmark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 et al., ACL 2021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cross-domain prerequisite learning via graph autoencoders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YouLearn</a:t>
            </a: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6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Knowt</a:t>
            </a: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600" b="1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referenced for comparative positioning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465</Words>
  <Application>Microsoft Office PowerPoint</Application>
  <PresentationFormat>Custom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Poppins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Aastha Devadiga</cp:lastModifiedBy>
  <cp:revision>5</cp:revision>
  <dcterms:created xsi:type="dcterms:W3CDTF">2006-08-16T00:00:00Z</dcterms:created>
  <dcterms:modified xsi:type="dcterms:W3CDTF">2026-08-18T23:34:54Z</dcterms:modified>
</cp:coreProperties>
</file>